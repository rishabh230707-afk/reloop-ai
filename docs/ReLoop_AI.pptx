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f4872a5ed24aa8" /><Relationship Type="http://schemas.openxmlformats.org/officeDocument/2006/relationships/extended-properties" Target="/docProps/app.xml" Id="R9b96f507516c4643" /><Relationship Type="http://schemas.openxmlformats.org/officeDocument/2006/relationships/officeDocument" Target="/ppt/presentation.xml" Id="R3777c75290894b77" /></Relationships>
</file>

<file path=ppt/presentation.xml><?xml version="1.0" encoding="utf-8"?>
<p:presentation xmlns:p="http://schemas.openxmlformats.org/presentationml/2006/main">
  <p:sldMasterIdLst>
    <p:sldMasterId xmlns:r="http://schemas.openxmlformats.org/officeDocument/2006/relationships" id="2147483648" r:id="R79eade3879e647c1"/>
  </p:sldMasterIdLst>
  <p:notesMasterIdLst>
    <p:notesMasterId xmlns:r="http://schemas.openxmlformats.org/officeDocument/2006/relationships" r:id="R6cc8cfa140ba4092"/>
  </p:notesMasterIdLst>
  <p:sldIdLst>
    <p:sldId xmlns:r="http://schemas.openxmlformats.org/officeDocument/2006/relationships" id="256" r:id="Rd017c9a0676c4792"/>
    <p:sldId xmlns:r="http://schemas.openxmlformats.org/officeDocument/2006/relationships" id="257" r:id="Rbe5f1c20c6ab4eaf"/>
    <p:sldId xmlns:r="http://schemas.openxmlformats.org/officeDocument/2006/relationships" id="258" r:id="R140fa6b7b2134b00"/>
    <p:sldId xmlns:r="http://schemas.openxmlformats.org/officeDocument/2006/relationships" id="259" r:id="R6b047fbf21b243dc"/>
    <p:sldId xmlns:r="http://schemas.openxmlformats.org/officeDocument/2006/relationships" id="260" r:id="R0527fd5a83b64965"/>
    <p:sldId xmlns:r="http://schemas.openxmlformats.org/officeDocument/2006/relationships" id="261" r:id="R4e8aabefd0114158"/>
    <p:sldId xmlns:r="http://schemas.openxmlformats.org/officeDocument/2006/relationships" id="262" r:id="R0f14300b15d84417"/>
    <p:sldId xmlns:r="http://schemas.openxmlformats.org/officeDocument/2006/relationships" id="263" r:id="R3cedc6858352411c"/>
    <p:sldId xmlns:r="http://schemas.openxmlformats.org/officeDocument/2006/relationships" id="264" r:id="Rd350a68dcba34a55"/>
    <p:sldId xmlns:r="http://schemas.openxmlformats.org/officeDocument/2006/relationships" id="265" r:id="R667652a886fa4f7f"/>
    <p:sldId xmlns:r="http://schemas.openxmlformats.org/officeDocument/2006/relationships" id="266" r:id="R274310c1298b4286"/>
    <p:sldId xmlns:r="http://schemas.openxmlformats.org/officeDocument/2006/relationships" id="267" r:id="R0e078de36fd24578"/>
    <p:sldId xmlns:r="http://schemas.openxmlformats.org/officeDocument/2006/relationships" id="268" r:id="R07248e8ab71e4224"/>
    <p:sldId xmlns:r="http://schemas.openxmlformats.org/officeDocument/2006/relationships" id="269" r:id="R206f9ee756344ef3"/>
    <p:sldId xmlns:r="http://schemas.openxmlformats.org/officeDocument/2006/relationships" id="270" r:id="R1c80be6c40c04523"/>
    <p:sldId xmlns:r="http://schemas.openxmlformats.org/officeDocument/2006/relationships" id="271" r:id="Ref2cf7b49bd14783"/>
    <p:sldId xmlns:r="http://schemas.openxmlformats.org/officeDocument/2006/relationships" id="272" r:id="R47230dfb77944a62"/>
    <p:sldId xmlns:r="http://schemas.openxmlformats.org/officeDocument/2006/relationships" id="273" r:id="Rbb2067cf794742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33e4b605b14637" /><Relationship Type="http://schemas.openxmlformats.org/officeDocument/2006/relationships/slideMaster" Target="/ppt/slideMasters/slideMaster1.xml" Id="R79eade3879e647c1" /><Relationship Type="http://schemas.openxmlformats.org/officeDocument/2006/relationships/notesMaster" Target="/ppt/notesMasters/notesMaster1.xml" Id="R6cc8cfa140ba4092" /><Relationship Type="http://schemas.openxmlformats.org/officeDocument/2006/relationships/presProps" Target="/ppt/presProps.xml" Id="Ra85d058ec9cb4d8f" /><Relationship Type="http://schemas.openxmlformats.org/officeDocument/2006/relationships/tableStyles" Target="/ppt/tableStyles.xml" Id="Rfb08024090d94c15" /><Relationship Type="http://schemas.openxmlformats.org/officeDocument/2006/relationships/slide" Target="/ppt/slides/slide1.xml" Id="Rd017c9a0676c4792" /><Relationship Type="http://schemas.openxmlformats.org/officeDocument/2006/relationships/slide" Target="/ppt/slides/slide2.xml" Id="Rbe5f1c20c6ab4eaf" /><Relationship Type="http://schemas.openxmlformats.org/officeDocument/2006/relationships/slide" Target="/ppt/slides/slide3.xml" Id="R140fa6b7b2134b00" /><Relationship Type="http://schemas.openxmlformats.org/officeDocument/2006/relationships/slide" Target="/ppt/slides/slide4.xml" Id="R6b047fbf21b243dc" /><Relationship Type="http://schemas.openxmlformats.org/officeDocument/2006/relationships/slide" Target="/ppt/slides/slide5.xml" Id="R0527fd5a83b64965" /><Relationship Type="http://schemas.openxmlformats.org/officeDocument/2006/relationships/slide" Target="/ppt/slides/slide6.xml" Id="R4e8aabefd0114158" /><Relationship Type="http://schemas.openxmlformats.org/officeDocument/2006/relationships/slide" Target="/ppt/slides/slide7.xml" Id="R0f14300b15d84417" /><Relationship Type="http://schemas.openxmlformats.org/officeDocument/2006/relationships/slide" Target="/ppt/slides/slide8.xml" Id="R3cedc6858352411c" /><Relationship Type="http://schemas.openxmlformats.org/officeDocument/2006/relationships/slide" Target="/ppt/slides/slide9.xml" Id="Rd350a68dcba34a55" /><Relationship Type="http://schemas.openxmlformats.org/officeDocument/2006/relationships/slide" Target="/ppt/slides/slide10.xml" Id="R667652a886fa4f7f" /><Relationship Type="http://schemas.openxmlformats.org/officeDocument/2006/relationships/slide" Target="/ppt/slides/slide11.xml" Id="R274310c1298b4286" /><Relationship Type="http://schemas.openxmlformats.org/officeDocument/2006/relationships/slide" Target="/ppt/slides/slide12.xml" Id="R0e078de36fd24578" /><Relationship Type="http://schemas.openxmlformats.org/officeDocument/2006/relationships/slide" Target="/ppt/slides/slide13.xml" Id="R07248e8ab71e4224" /><Relationship Type="http://schemas.openxmlformats.org/officeDocument/2006/relationships/slide" Target="/ppt/slides/slide14.xml" Id="R206f9ee756344ef3" /><Relationship Type="http://schemas.openxmlformats.org/officeDocument/2006/relationships/slide" Target="/ppt/slides/slide15.xml" Id="R1c80be6c40c04523" /><Relationship Type="http://schemas.openxmlformats.org/officeDocument/2006/relationships/slide" Target="/ppt/slides/slide16.xml" Id="Ref2cf7b49bd14783" /><Relationship Type="http://schemas.openxmlformats.org/officeDocument/2006/relationships/slide" Target="/ppt/slides/slide17.xml" Id="R47230dfb77944a62" /><Relationship Type="http://schemas.openxmlformats.org/officeDocument/2006/relationships/slide" Target="/ppt/slides/slide18.xml" Id="Rbb2067cf794742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d0df8a18684c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e1e41a77fc4447" /><Relationship Type="http://schemas.openxmlformats.org/officeDocument/2006/relationships/notesMaster" Target="/ppt/notesMasters/notesMaster1.xml" Id="R1a8ef295191544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32444ef7df4135" /><Relationship Type="http://schemas.openxmlformats.org/officeDocument/2006/relationships/notesMaster" Target="/ppt/notesMasters/notesMaster1.xml" Id="Rdd6dcb4a752646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79e0e1b0d0457a" /><Relationship Type="http://schemas.openxmlformats.org/officeDocument/2006/relationships/notesMaster" Target="/ppt/notesMasters/notesMaster1.xml" Id="R8576409eaab844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bbc82d525c4017" /><Relationship Type="http://schemas.openxmlformats.org/officeDocument/2006/relationships/notesMaster" Target="/ppt/notesMasters/notesMaster1.xml" Id="Rd466467d3ccf44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58151ef343401d" /><Relationship Type="http://schemas.openxmlformats.org/officeDocument/2006/relationships/notesMaster" Target="/ppt/notesMasters/notesMaster1.xml" Id="Rbbd55f43a1cf45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3063e76c274af8" /><Relationship Type="http://schemas.openxmlformats.org/officeDocument/2006/relationships/notesMaster" Target="/ppt/notesMasters/notesMaster1.xml" Id="Rb1b45040f3034c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2646cf86444128" /><Relationship Type="http://schemas.openxmlformats.org/officeDocument/2006/relationships/notesMaster" Target="/ppt/notesMasters/notesMaster1.xml" Id="R855c6e5a6dc349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0e81b1b9564767" /><Relationship Type="http://schemas.openxmlformats.org/officeDocument/2006/relationships/notesMaster" Target="/ppt/notesMasters/notesMaster1.xml" Id="R7a72d2e8ec4b4e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7df5c1953841cc" /><Relationship Type="http://schemas.openxmlformats.org/officeDocument/2006/relationships/notesMaster" Target="/ppt/notesMasters/notesMaster1.xml" Id="R121ec544e0944e2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e47c9aace24d16" /><Relationship Type="http://schemas.openxmlformats.org/officeDocument/2006/relationships/notesMaster" Target="/ppt/notesMasters/notesMaster1.xml" Id="R7127bd0584ae42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62ffbc13244f48" /><Relationship Type="http://schemas.openxmlformats.org/officeDocument/2006/relationships/notesMaster" Target="/ppt/notesMasters/notesMaster1.xml" Id="R1d61445d20b443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0b526a9f4d49c6" /><Relationship Type="http://schemas.openxmlformats.org/officeDocument/2006/relationships/notesMaster" Target="/ppt/notesMasters/notesMaster1.xml" Id="Rf75876bc5cd849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691e68fe0a4d99" /><Relationship Type="http://schemas.openxmlformats.org/officeDocument/2006/relationships/notesMaster" Target="/ppt/notesMasters/notesMaster1.xml" Id="R6ae88b8972f546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7328aab58e4b43" /><Relationship Type="http://schemas.openxmlformats.org/officeDocument/2006/relationships/notesMaster" Target="/ppt/notesMasters/notesMaster1.xml" Id="R677dddae515946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a5229ed28b4c5a" /><Relationship Type="http://schemas.openxmlformats.org/officeDocument/2006/relationships/notesMaster" Target="/ppt/notesMasters/notesMaster1.xml" Id="R2d65f33c6ee845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0f5e37e04e4ec9" /><Relationship Type="http://schemas.openxmlformats.org/officeDocument/2006/relationships/notesMaster" Target="/ppt/notesMasters/notesMaster1.xml" Id="R715317e41ceb42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c74857375c4f68" /><Relationship Type="http://schemas.openxmlformats.org/officeDocument/2006/relationships/notesMaster" Target="/ppt/notesMasters/notesMaster1.xml" Id="Rb1c44608912b4a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ef2d6b1c20e4af7" /><Relationship Type="http://schemas.openxmlformats.org/officeDocument/2006/relationships/notesMaster" Target="/ppt/notesMasters/notesMaster1.xml" Id="R5680d258539645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and internship attribution follow the supplied brief. College confirmed by the user as MAIT Delhi. This prototype does not claim an IBM model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disconnected inventory and purchasing workflows can hide useful stock. Validate through campus stock records and interviews. No claim has been made that this problem has already been measured at the student’s college.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https://sdgs.un.org/goals/goal12 ; https://sdgs.un.org/goals/goal4 ; https://sdgs.un.org/goals/goal17 . SDG 12 target 12.5 is the primary alignment. SDG 4 contribution is access to functional educational resources; learning gains are not established. SDG 17 is an intended institutional partnership contribution, not evidence of existing formal partnerships.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flow diagram is the prototype evidence permitted by the internship guidelines. Inspection is a human confirmation in the demo, not an independent safety certificate. Continued-use tracking is proposed pilot work. Source: reloop.py and web_app.py in https://github.com/rishabh230707-afk/ReLoop-AI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implemented classic NLP retrieval baseline, combined with deterministic business rules. Similarity is not a probability or safety assessment. Unsupported and multi-item requests ask for clarification. The inventory baseline remains classic NLP. A separate local Ollama assistant now implements generative RAG and model-selected tool calls. IBM Granite and IBM BOB are not integrated. Tools: Python standard library, HTML, CSS and JavaScript; no API key required. Compare advanced models only after measuring baseline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in ai_assistant.py. Knowledge is project-authored prototype guidance, not official MAIT policy. Actual RAG generation requires local Ollama. No-model mode returns labelled excerpts only. Source identifiers and answer schema are validated, not semantic entailment. Models can misinterpret evidence. Source: https://docs.ollama.com/api/chat . Live model output has not been evaluated in the build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Ollama model selects tool calls and receives observations. The controller exposes only search_inventory, retrieve_guidance and estimate_reuse. Unknown tools or extra arguments are rejected. Estimate requires an item from the current eligible search and retrieved guidance. Python calculates amounts. No stock is reserved or written. The normal confirmation endpoint revalidates stock. Agent model behavior was tested with explicit scripted responses, not live inference. Source: https://docs.ollama.com/capabilities/tool-calling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python3 -m unittest test_reloop.py test_ai_assistant.py test_web_ai.py passed 31 tests. Coverage includes source retrieval, invalid citations, abstention, agent tool restrictions, partial stock, unapproved recipients, no automatic writes and HTTP routes. Scripted model responses test the model protocol without claiming real inference. Ollama was not installed in the build environment. New assistant UI has not been visually tested in a live browser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local model is Qwen3:4b, not IBM Granite. Default --model is qwen3:4b. It is downloaded once through Ollama. Check hardware suitability and available memory. Install: https://ollama.com/download . Model: https://ollama.com/library/qwen3:4b . The default python3 web_app.py runs preview mode. Configuration banner alone does not prove model connectivity; verify a successful answer and tool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screenshot of the original local ReLoop AI workspace before the assistant tab was added. Synthetic demo data, not measured environmental or educational outcomes. The visible session has four school units and two transfers, with 14 kg estimated mass and INR0 displayed savings. Initial inventory counts and the separate CLI example differ from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screenshot of the original local ReLoop AI workspace before the assistant tab was added. Synthetic demo data, not measured environmental or educational outcomes. The visible session has four school units and two transfers, with 14 kg estimated mass and INR0 displayed savings. Initial inventory counts and the separate CLI example differ from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screenshot of the original local ReLoop AI workspace before the assistant tab was added. Synthetic demo data, not measured environmental or educational outcomes. The visible session has four school units and two transfers, with 14 kg estimated mass and INR0 displayed savings. Initial inventory counts and the separate CLI example differ from this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Distinctive choices in this project are reuse before buying, school eligibility filtering and a local transfer ledger. No claim of global novelty is made. A resource passport is a proposed future feature, not implemented: it could record item condition, maintenance, transfers and continued use, with institutional access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Fairness: description quality and a limited synonym list can affect discovery. Evaluate requests across schools and departments. Privacy: a production rollout needs institutional roles and access controls; these are not currently implemented. Ethics: food, medicines, chemicals, loose batteries and hazardous items are excluded. Partner approval flags are fictional fixtures, not verified agreements. A human must verify ownership, safe condition and suitability.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thinking: empathize and validate the stated problem through planned interviews; define the inventory visibility gap; ideate a reuse-before-purchase workflow; prototype retrieval and a transfer ledger; test and refine. 31 test methods verify core, assistant and HTTP behavior, not real-world AI accuracy. Model tests use scripted responses. Live Ollama inference has not been tested in this environment. HTTP integration checks cover assets, matching, invalid token, fractional quantity, unapproved school and persisted transfer totals. Original interface screenshots were supplied by the user. The added assistant view has not been visually tested in a live browser here. User interviews and mentor feedback are planned, not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Scalability is a proposed design, not a current capability. Move local JSON state to a transactional database. Add tenant-aware access, reservations and concurrency control to prevent double allocation; verified listings and partner agreements; accessible interfaces and procurement integration. Evaluate cost, transport and refurbishment before expanding.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statement: If implemented successfully, ReLoop AI could make checking existing resources a routine step before purchasing, extending useful item life while improving access to school equipment through institutional collaboration. Environmental benefits depend on continued use, displaced purchases and collection/refurbishment costs. Do not equate equipment delivery with learning gains. All pilot targets are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https://github.com/rishabh230707-afk/ReLoop-AI . Run commands from the extracted repository folder with Python 3 installed. Browser address http://127.0.0.1:8765 . School demo runs synthetic in-memory data. Sources: student-provided internship guidelines; https://sdgs.un.org/goals/goal4 ; https://sdgs.un.org/goals/goal12 ; https://sdgs.un.org/goals/goal17 . College name confirmed as MAIT Delhi.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f39b28ba3c49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d03a42c91446d3" /><Relationship Type="http://schemas.openxmlformats.org/officeDocument/2006/relationships/slideLayout" Target="/ppt/slideLayouts/slideLayout1.xml" Id="Rf73f683665de4f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3f683665de4f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840fe1e06d46ee" /><Relationship Type="http://schemas.openxmlformats.org/officeDocument/2006/relationships/notesSlide" Target="/ppt/notesSlides/notesSlide1.xml" Id="Rb90f2c16b69146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426476b50648b4" /><Relationship Type="http://schemas.openxmlformats.org/officeDocument/2006/relationships/notesSlide" Target="/ppt/notesSlides/notesSlide2.xml" Id="R4365a94ccc9f48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97477efad3464d" /><Relationship Type="http://schemas.openxmlformats.org/officeDocument/2006/relationships/notesSlide" Target="/ppt/notesSlides/notesSlide3.xml" Id="R6b79e789de5f44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8f38fac9d1447b" /><Relationship Type="http://schemas.openxmlformats.org/officeDocument/2006/relationships/notesSlide" Target="/ppt/notesSlides/notesSlide4.xml" Id="R8098fae3a2c444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1542496f034ae5" /><Relationship Type="http://schemas.openxmlformats.org/officeDocument/2006/relationships/notesSlide" Target="/ppt/notesSlides/notesSlide5.xml" Id="R0f4e70b863f746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e6efb157ea408f" /><Relationship Type="http://schemas.openxmlformats.org/officeDocument/2006/relationships/notesSlide" Target="/ppt/notesSlides/notesSlide6.xml" Id="Rd9c4a3e7f65c43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12fef030574691" /><Relationship Type="http://schemas.openxmlformats.org/officeDocument/2006/relationships/notesSlide" Target="/ppt/notesSlides/notesSlide7.xml" Id="R4f58f4b8f4164b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c8d7a1591f4472" /><Relationship Type="http://schemas.openxmlformats.org/officeDocument/2006/relationships/notesSlide" Target="/ppt/notesSlides/notesSlide8.xml" Id="Rea77b54318dc4c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83e43ba2fa4aad" /><Relationship Type="http://schemas.openxmlformats.org/officeDocument/2006/relationships/notesSlide" Target="/ppt/notesSlides/notesSlide9.xml" Id="R623150d2a69d4a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5a2c47e1e04bd4" /><Relationship Type="http://schemas.openxmlformats.org/officeDocument/2006/relationships/image" Target="/ppt/media/image.png" Id="R7bcbcdf597464d8a" /><Relationship Type="http://schemas.openxmlformats.org/officeDocument/2006/relationships/notesSlide" Target="/ppt/notesSlides/notesSlide10.xml" Id="R5b015e2ec2fa4b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ac8ecf87b84d8a" /><Relationship Type="http://schemas.openxmlformats.org/officeDocument/2006/relationships/image" Target="/ppt/media/image2.png" Id="Ra9a752cd821248f3" /><Relationship Type="http://schemas.openxmlformats.org/officeDocument/2006/relationships/notesSlide" Target="/ppt/notesSlides/notesSlide11.xml" Id="R9d50fcd9dbf64a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482126139d45a2" /><Relationship Type="http://schemas.openxmlformats.org/officeDocument/2006/relationships/image" Target="/ppt/media/image3.png" Id="Raca115230d1647b8" /><Relationship Type="http://schemas.openxmlformats.org/officeDocument/2006/relationships/notesSlide" Target="/ppt/notesSlides/notesSlide12.xml" Id="R3df1496d2764414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1e6286989744b2" /><Relationship Type="http://schemas.openxmlformats.org/officeDocument/2006/relationships/notesSlide" Target="/ppt/notesSlides/notesSlide13.xml" Id="R0285e6cab23a49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766ef97c5543eb" /><Relationship Type="http://schemas.openxmlformats.org/officeDocument/2006/relationships/notesSlide" Target="/ppt/notesSlides/notesSlide14.xml" Id="R3e62e9c9aee647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dacfdf4f354066" /><Relationship Type="http://schemas.openxmlformats.org/officeDocument/2006/relationships/notesSlide" Target="/ppt/notesSlides/notesSlide15.xml" Id="Rd8d914ae932948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0bd5032fff4a8e" /><Relationship Type="http://schemas.openxmlformats.org/officeDocument/2006/relationships/notesSlide" Target="/ppt/notesSlides/notesSlide16.xml" Id="R133463239e0342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bf43255af554953" /><Relationship Type="http://schemas.openxmlformats.org/officeDocument/2006/relationships/notesSlide" Target="/ppt/notesSlides/notesSlide17.xml" Id="R7aef261a381346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16e4630fbda4b70" /><Relationship Type="http://schemas.openxmlformats.org/officeDocument/2006/relationships/notesSlide" Target="/ppt/notesSlides/notesSlide18.xml" Id="Rc5a515b710264301" /></Relationships>
</file>

<file path=ppt/slides/slide1.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33638AF-DF07-4AC8-B20E-5F21C1A52EB6}"/>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1F791"/>
                </a:solidFill>
                <a:latin typeface="DejaVu Sans"/>
                <a:ea typeface="DejaVu Sans"/>
                <a:cs typeface="DejaVu Sans"/>
              </a:defRPr>
            </a:pPr>
            <a:r>
              <a:rPr sz="1200" b="1">
                <a:solidFill>
                  <a:srgbClr val="D1F791"/>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D220B0BD-6781-4DF1-86D8-B954C048532A}"/>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777232B2-AFD4-47B3-A5FF-06549E07E95F}"/>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1F791"/>
                </a:solidFill>
                <a:latin typeface="DejaVu Sans"/>
                <a:ea typeface="DejaVu Sans"/>
                <a:cs typeface="DejaVu Sans"/>
              </a:defRPr>
            </a:pPr>
            <a:r>
              <a:rPr sz="1275" b="0">
                <a:solidFill>
                  <a:srgbClr val="D1F791"/>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481455D7-1F3F-4996-950B-D8645A1D8730}"/>
              </a:ext>
            </a:extLst>
          </p:cNvPr>
          <p:cNvSpPr>
            <a:spLocks xmlns:a="http://schemas.openxmlformats.org/drawingml/2006/main" noGrp="1"/>
          </p:cNvSpPr>
          <p:nvPr/>
        </p:nvSpPr>
        <p:spPr>
          <a:xfrm xmlns:a="http://schemas.openxmlformats.org/drawingml/2006/main">
            <a:off x="609600" y="1000125"/>
            <a:ext cx="657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75" b="1">
                <a:solidFill>
                  <a:srgbClr val="FFFFFF"/>
                </a:solidFill>
                <a:latin typeface="DejaVu Sans"/>
                <a:ea typeface="DejaVu Sans"/>
                <a:cs typeface="DejaVu Sans"/>
              </a:defRPr>
            </a:pPr>
            <a:r>
              <a:rPr sz="6375" b="1">
                <a:solidFill>
                  <a:srgbClr val="FFFFFF"/>
                </a:solidFill>
                <a:latin typeface="DejaVu Sans"/>
                <a:ea typeface="DejaVu Sans"/>
                <a:cs typeface="DejaVu Sans"/>
              </a:rPr>
              <a:t>ReLoop AI</a:t>
            </a:r>
          </a:p>
        </p:txBody>
      </p:sp>
      <p:sp>
        <p:nvSpPr>
          <p:cNvPr id="5" name="">
            <a:extLst xmlns:a="http://schemas.openxmlformats.org/drawingml/2006/main">
              <a:ext uri="{FF2B5EF4-FFF2-40B4-BE49-F238E27FC236}">
                <a16:creationId xmlns:a16="http://schemas.microsoft.com/office/drawing/2014/main" id="{35FB1997-DBB6-4B6C-9804-511057F5A735}"/>
              </a:ext>
            </a:extLst>
          </p:cNvPr>
          <p:cNvSpPr>
            <a:spLocks xmlns:a="http://schemas.openxmlformats.org/drawingml/2006/main" noGrp="1"/>
          </p:cNvSpPr>
          <p:nvPr/>
        </p:nvSpPr>
        <p:spPr>
          <a:xfrm xmlns:a="http://schemas.openxmlformats.org/drawingml/2006/main">
            <a:off x="609600" y="2409825"/>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D1F791"/>
                </a:solidFill>
                <a:latin typeface="DejaVu Sans"/>
                <a:ea typeface="DejaVu Sans"/>
                <a:cs typeface="DejaVu Sans"/>
              </a:defRPr>
            </a:pPr>
            <a:r>
              <a:rPr sz="3150" b="1">
                <a:solidFill>
                  <a:srgbClr val="D1F791"/>
                </a:solidFill>
                <a:latin typeface="DejaVu Sans"/>
                <a:ea typeface="DejaVu Sans"/>
                <a:cs typeface="DejaVu Sans"/>
              </a:rPr>
              <a:t>Campus resources.</a:t>
            </a:r>
          </a:p>
          <a:p xmlns:a="http://schemas.openxmlformats.org/drawingml/2006/main">
            <a:pPr>
              <a:defRPr sz="3150" b="1">
                <a:solidFill>
                  <a:srgbClr val="D1F791"/>
                </a:solidFill>
                <a:latin typeface="DejaVu Sans"/>
                <a:ea typeface="DejaVu Sans"/>
                <a:cs typeface="DejaVu Sans"/>
              </a:defRPr>
            </a:pPr>
            <a:r>
              <a:rPr sz="3150" b="1">
                <a:solidFill>
                  <a:srgbClr val="D1F791"/>
                </a:solidFill>
                <a:latin typeface="DejaVu Sans"/>
                <a:ea typeface="DejaVu Sans"/>
                <a:cs typeface="DejaVu Sans"/>
              </a:rPr>
              <a:t>A second life in education.</a:t>
            </a:r>
          </a:p>
        </p:txBody>
      </p:sp>
      <p:sp>
        <p:nvSpPr>
          <p:cNvPr id="6" name="">
            <a:extLst xmlns:a="http://schemas.openxmlformats.org/drawingml/2006/main">
              <a:ext uri="{FF2B5EF4-FFF2-40B4-BE49-F238E27FC236}">
                <a16:creationId xmlns:a16="http://schemas.microsoft.com/office/drawing/2014/main" id="{B6A39951-B7CE-4E70-A638-FE77EC0BEEFD}"/>
              </a:ext>
            </a:extLst>
          </p:cNvPr>
          <p:cNvSpPr>
            <a:spLocks xmlns:a="http://schemas.openxmlformats.org/drawingml/2006/main" noGrp="1"/>
          </p:cNvSpPr>
          <p:nvPr/>
        </p:nvSpPr>
        <p:spPr>
          <a:xfrm xmlns:a="http://schemas.openxmlformats.org/drawingml/2006/main">
            <a:off x="609600" y="4095750"/>
            <a:ext cx="647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Campus-to-School Resource Reuse Network</a:t>
            </a:r>
          </a:p>
        </p:txBody>
      </p:sp>
      <p:sp>
        <p:nvSpPr>
          <p:cNvPr id="7" name="">
            <a:extLst xmlns:a="http://schemas.openxmlformats.org/drawingml/2006/main">
              <a:ext uri="{FF2B5EF4-FFF2-40B4-BE49-F238E27FC236}">
                <a16:creationId xmlns:a16="http://schemas.microsoft.com/office/drawing/2014/main" id="{46BAEBC8-663A-47F7-A60A-543F4E19B2BC}"/>
              </a:ext>
            </a:extLst>
          </p:cNvPr>
          <p:cNvSpPr>
            <a:spLocks xmlns:a="http://schemas.openxmlformats.org/drawingml/2006/main" noGrp="1"/>
          </p:cNvSpPr>
          <p:nvPr/>
        </p:nvSpPr>
        <p:spPr>
          <a:xfrm xmlns:a="http://schemas.openxmlformats.org/drawingml/2006/main">
            <a:off x="609600" y="4629150"/>
            <a:ext cx="7000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1F791"/>
                </a:solidFill>
                <a:latin typeface="DejaVu Sans"/>
                <a:ea typeface="DejaVu Sans"/>
                <a:cs typeface="DejaVu Sans"/>
              </a:defRPr>
            </a:pPr>
            <a:r>
              <a:rPr sz="1650" b="0">
                <a:solidFill>
                  <a:srgbClr val="D1F791"/>
                </a:solidFill>
                <a:latin typeface="DejaVu Sans"/>
                <a:ea typeface="DejaVu Sans"/>
                <a:cs typeface="DejaVu Sans"/>
              </a:rPr>
              <a:t>RAG guidance + agent-assisted reuse planning</a:t>
            </a:r>
          </a:p>
        </p:txBody>
      </p:sp>
      <p:sp>
        <p:nvSpPr>
          <p:cNvPr id="8" name="">
            <a:extLst xmlns:a="http://schemas.openxmlformats.org/drawingml/2006/main">
              <a:ext uri="{FF2B5EF4-FFF2-40B4-BE49-F238E27FC236}">
                <a16:creationId xmlns:a16="http://schemas.microsoft.com/office/drawing/2014/main" id="{CD73F477-60EE-44ED-89C3-FB8989114A3E}"/>
              </a:ext>
            </a:extLst>
          </p:cNvPr>
          <p:cNvSpPr>
            <a:spLocks xmlns:a="http://schemas.openxmlformats.org/drawingml/2006/main" noGrp="1"/>
          </p:cNvSpPr>
          <p:nvPr/>
        </p:nvSpPr>
        <p:spPr>
          <a:xfrm xmlns:a="http://schemas.openxmlformats.org/drawingml/2006/main">
            <a:off x="609600" y="5038725"/>
            <a:ext cx="676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Rishabh Bansal</a:t>
            </a:r>
          </a:p>
        </p:txBody>
      </p:sp>
      <p:sp>
        <p:nvSpPr>
          <p:cNvPr id="9" name="">
            <a:extLst xmlns:a="http://schemas.openxmlformats.org/drawingml/2006/main">
              <a:ext uri="{FF2B5EF4-FFF2-40B4-BE49-F238E27FC236}">
                <a16:creationId xmlns:a16="http://schemas.microsoft.com/office/drawing/2014/main" id="{593D5266-C5CD-46B8-8C9F-B8FD2E6F349C}"/>
              </a:ext>
            </a:extLst>
          </p:cNvPr>
          <p:cNvSpPr>
            <a:spLocks xmlns:a="http://schemas.openxmlformats.org/drawingml/2006/main" noGrp="1"/>
          </p:cNvSpPr>
          <p:nvPr/>
        </p:nvSpPr>
        <p:spPr>
          <a:xfrm xmlns:a="http://schemas.openxmlformats.org/drawingml/2006/main">
            <a:off x="609600" y="5486400"/>
            <a:ext cx="704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Maharaja Agrasen Institute of Technology</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(MAIT), Delhi</a:t>
            </a:r>
          </a:p>
        </p:txBody>
      </p:sp>
      <p:sp>
        <p:nvSpPr>
          <p:cNvPr id="10" name="">
            <a:extLst xmlns:a="http://schemas.openxmlformats.org/drawingml/2006/main">
              <a:ext uri="{FF2B5EF4-FFF2-40B4-BE49-F238E27FC236}">
                <a16:creationId xmlns:a16="http://schemas.microsoft.com/office/drawing/2014/main" id="{B7B93E19-B79E-4289-AAF6-ABBE986F2EE3}"/>
              </a:ext>
            </a:extLst>
          </p:cNvPr>
          <p:cNvSpPr>
            <a:spLocks xmlns:a="http://schemas.openxmlformats.org/drawingml/2006/main" noGrp="1"/>
          </p:cNvSpPr>
          <p:nvPr/>
        </p:nvSpPr>
        <p:spPr>
          <a:xfrm xmlns:a="http://schemas.openxmlformats.org/drawingml/2006/main">
            <a:off x="8172450" y="1295400"/>
            <a:ext cx="3000375" cy="1028700"/>
          </a:xfrm>
          <a:prstGeom xmlns:a="http://schemas.openxmlformats.org/drawingml/2006/main" prst="rect">
            <a:avLst/>
          </a:prstGeom>
          <a:solidFill xmlns:a="http://schemas.openxmlformats.org/drawingml/2006/main">
            <a:srgbClr val="D1F7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E56BDB-DDB8-4C97-AA27-921B54FAE736}"/>
              </a:ext>
            </a:extLst>
          </p:cNvPr>
          <p:cNvSpPr>
            <a:spLocks xmlns:a="http://schemas.openxmlformats.org/drawingml/2006/main" noGrp="1"/>
          </p:cNvSpPr>
          <p:nvPr/>
        </p:nvSpPr>
        <p:spPr>
          <a:xfrm xmlns:a="http://schemas.openxmlformats.org/drawingml/2006/main">
            <a:off x="8362950" y="1457325"/>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Campus</a:t>
            </a:r>
          </a:p>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surplus</a:t>
            </a:r>
          </a:p>
        </p:txBody>
      </p:sp>
      <p:sp>
        <p:nvSpPr>
          <p:cNvPr id="12" name="">
            <a:extLst xmlns:a="http://schemas.openxmlformats.org/drawingml/2006/main">
              <a:ext uri="{FF2B5EF4-FFF2-40B4-BE49-F238E27FC236}">
                <a16:creationId xmlns:a16="http://schemas.microsoft.com/office/drawing/2014/main" id="{39C7070D-852B-4959-8DE7-3ABC3CC7150E}"/>
              </a:ext>
            </a:extLst>
          </p:cNvPr>
          <p:cNvSpPr>
            <a:spLocks xmlns:a="http://schemas.openxmlformats.org/drawingml/2006/main" noGrp="1"/>
          </p:cNvSpPr>
          <p:nvPr/>
        </p:nvSpPr>
        <p:spPr>
          <a:xfrm xmlns:a="http://schemas.openxmlformats.org/drawingml/2006/main">
            <a:off x="8172450" y="2895600"/>
            <a:ext cx="3000375" cy="10287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828C998-4AEE-41F4-B11F-644DB2008064}"/>
              </a:ext>
            </a:extLst>
          </p:cNvPr>
          <p:cNvSpPr>
            <a:spLocks xmlns:a="http://schemas.openxmlformats.org/drawingml/2006/main" noGrp="1"/>
          </p:cNvSpPr>
          <p:nvPr/>
        </p:nvSpPr>
        <p:spPr>
          <a:xfrm xmlns:a="http://schemas.openxmlformats.org/drawingml/2006/main">
            <a:off x="8362950" y="3057525"/>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School</a:t>
            </a:r>
          </a:p>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request</a:t>
            </a:r>
          </a:p>
        </p:txBody>
      </p:sp>
      <p:sp>
        <p:nvSpPr>
          <p:cNvPr id="14" name="">
            <a:extLst xmlns:a="http://schemas.openxmlformats.org/drawingml/2006/main">
              <a:ext uri="{FF2B5EF4-FFF2-40B4-BE49-F238E27FC236}">
                <a16:creationId xmlns:a16="http://schemas.microsoft.com/office/drawing/2014/main" id="{3FCC416B-7C2E-4EEA-9201-64D57411E9E0}"/>
              </a:ext>
            </a:extLst>
          </p:cNvPr>
          <p:cNvSpPr>
            <a:spLocks xmlns:a="http://schemas.openxmlformats.org/drawingml/2006/main" noGrp="1"/>
          </p:cNvSpPr>
          <p:nvPr/>
        </p:nvSpPr>
        <p:spPr>
          <a:xfrm xmlns:a="http://schemas.openxmlformats.org/drawingml/2006/main">
            <a:off x="8172450" y="4495800"/>
            <a:ext cx="3000375" cy="1028700"/>
          </a:xfrm>
          <a:prstGeom xmlns:a="http://schemas.openxmlformats.org/drawingml/2006/main" prst="rect">
            <a:avLst/>
          </a:prstGeom>
          <a:solidFill xmlns:a="http://schemas.openxmlformats.org/drawingml/2006/main">
            <a:srgbClr val="F8BC8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D4B842B-6287-4BE7-863B-E31359B6693D}"/>
              </a:ext>
            </a:extLst>
          </p:cNvPr>
          <p:cNvSpPr>
            <a:spLocks xmlns:a="http://schemas.openxmlformats.org/drawingml/2006/main" noGrp="1"/>
          </p:cNvSpPr>
          <p:nvPr/>
        </p:nvSpPr>
        <p:spPr>
          <a:xfrm xmlns:a="http://schemas.openxmlformats.org/drawingml/2006/main">
            <a:off x="8362950" y="4657725"/>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Inspected</a:t>
            </a:r>
          </a:p>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resource reuse</a:t>
            </a:r>
          </a:p>
        </p:txBody>
      </p:sp>
      <p:cxnSp>
        <p:nvCxnSpPr>
          <p:cNvPr id="34" name=""/>
          <p:cNvCxnSpPr>
            <a:stCxn xmlns:a="http://schemas.openxmlformats.org/drawingml/2006/main" id="10" idx="2"/>
            <a:endCxn xmlns:a="http://schemas.openxmlformats.org/drawingml/2006/main" id="12" idx="0"/>
          </p:cNvCxnSpPr>
          <p:nvPr/>
        </p:nvCxnSpPr>
        <p:spPr>
          <a:xfrm xmlns:a="http://schemas.openxmlformats.org/drawingml/2006/main">
            <a:off x="9672638" y="2324100"/>
            <a:ext cx="0" cy="57150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5" name=""/>
          <p:cNvCxnSpPr>
            <a:stCxn xmlns:a="http://schemas.openxmlformats.org/drawingml/2006/main" id="12" idx="2"/>
            <a:endCxn xmlns:a="http://schemas.openxmlformats.org/drawingml/2006/main" id="14" idx="0"/>
          </p:cNvCxnSpPr>
          <p:nvPr/>
        </p:nvCxnSpPr>
        <p:spPr>
          <a:xfrm xmlns:a="http://schemas.openxmlformats.org/drawingml/2006/main">
            <a:off x="9672638" y="3924300"/>
            <a:ext cx="0" cy="571500"/>
          </a:xfrm>
          <a:prstGeom xmlns:a="http://schemas.openxmlformats.org/drawingml/2006/main" prst="straightConnector1">
            <a:avLst/>
          </a:prstGeom>
          <a:ln xmlns:a="http://schemas.openxmlformats.org/drawingml/2006/main" w="28575">
            <a:solidFill>
              <a:srgbClr val="16765C"/>
            </a:solidFill>
            <a:tailEnd type="arrow" w="med" len="med"/>
          </a:ln>
        </p:spPr>
      </p:cxnSp>
      <p:sp>
        <p:nvSpPr>
          <p:cNvPr id="18" name="">
            <a:extLst xmlns:a="http://schemas.openxmlformats.org/drawingml/2006/main">
              <a:ext uri="{FF2B5EF4-FFF2-40B4-BE49-F238E27FC236}">
                <a16:creationId xmlns:a16="http://schemas.microsoft.com/office/drawing/2014/main" id="{3667331F-7CD6-422A-9E91-8D88F97F47B8}"/>
              </a:ext>
            </a:extLst>
          </p:cNvPr>
          <p:cNvSpPr>
            <a:spLocks xmlns:a="http://schemas.openxmlformats.org/drawingml/2006/main" noGrp="1"/>
          </p:cNvSpPr>
          <p:nvPr/>
        </p:nvSpPr>
        <p:spPr>
          <a:xfrm xmlns:a="http://schemas.openxmlformats.org/drawingml/2006/main">
            <a:off x="609600" y="643890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9D2C6"/>
                </a:solidFill>
                <a:latin typeface="DejaVu Sans"/>
                <a:ea typeface="DejaVu Sans"/>
                <a:cs typeface="DejaVu Sans"/>
              </a:defRPr>
            </a:pPr>
            <a:r>
              <a:rPr sz="1275" b="0">
                <a:solidFill>
                  <a:srgbClr val="B9D2C6"/>
                </a:solidFill>
                <a:latin typeface="DejaVu Sans"/>
                <a:ea typeface="DejaVu Sans"/>
                <a:cs typeface="DejaVu Sans"/>
              </a:rPr>
              <a:t>1M1B internship with IBM SkillsBuild &amp; AICTE</a:t>
            </a:r>
          </a:p>
        </p:txBody>
      </p:sp>
    </p:spTree>
    <p:extLst>
      <p:ext uri="{BB962C8B-B14F-4D97-AF65-F5344CB8AC3E}">
        <p14:creationId xmlns:p14="http://schemas.microsoft.com/office/powerpoint/2010/main" val="724354522"/>
      </p:ext>
    </p:extLst>
  </p:cSld>
</p:sld>
</file>

<file path=ppt/slides/slide2.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CF3074-DCEF-4D6D-A738-266714AD27E9}"/>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1DD34F9B-7639-4F5A-B7F3-52DCCB86D5EC}"/>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A usable monitor can miss its next classroom</a:t>
            </a:r>
          </a:p>
        </p:txBody>
      </p:sp>
      <p:sp>
        <p:nvSpPr>
          <p:cNvPr id="3" name="">
            <a:extLst xmlns:a="http://schemas.openxmlformats.org/drawingml/2006/main">
              <a:ext uri="{FF2B5EF4-FFF2-40B4-BE49-F238E27FC236}">
                <a16:creationId xmlns:a16="http://schemas.microsoft.com/office/drawing/2014/main" id="{3FE38A6C-F487-45C1-9879-7D3FB6989009}"/>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A0ADDDD9-D176-4C40-977E-07AFA83E9682}"/>
              </a:ext>
            </a:extLst>
          </p:cNvPr>
          <p:cNvSpPr>
            <a:spLocks xmlns:a="http://schemas.openxmlformats.org/drawingml/2006/main" noGrp="1"/>
          </p:cNvSpPr>
          <p:nvPr/>
        </p:nvSpPr>
        <p:spPr>
          <a:xfrm xmlns:a="http://schemas.openxmlformats.org/drawingml/2006/main">
            <a:off x="609600" y="15716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65C"/>
                </a:solidFill>
                <a:latin typeface="DejaVu Sans"/>
                <a:ea typeface="DejaVu Sans"/>
                <a:cs typeface="DejaVu Sans"/>
              </a:defRPr>
            </a:pPr>
            <a:r>
              <a:rPr sz="1500" b="1">
                <a:solidFill>
                  <a:srgbClr val="16765C"/>
                </a:solidFill>
                <a:latin typeface="DejaVu Sans"/>
                <a:ea typeface="DejaVu Sans"/>
                <a:cs typeface="DejaVu Sans"/>
              </a:rPr>
              <a:t>TARGET USERS</a:t>
            </a:r>
          </a:p>
        </p:txBody>
      </p:sp>
      <p:sp>
        <p:nvSpPr>
          <p:cNvPr id="5" name="">
            <a:extLst xmlns:a="http://schemas.openxmlformats.org/drawingml/2006/main">
              <a:ext uri="{FF2B5EF4-FFF2-40B4-BE49-F238E27FC236}">
                <a16:creationId xmlns:a16="http://schemas.microsoft.com/office/drawing/2014/main" id="{52DD7D10-2072-4F48-95AF-FECC75D88ABA}"/>
              </a:ext>
            </a:extLst>
          </p:cNvPr>
          <p:cNvSpPr>
            <a:spLocks xmlns:a="http://schemas.openxmlformats.org/drawingml/2006/main" noGrp="1"/>
          </p:cNvSpPr>
          <p:nvPr/>
        </p:nvSpPr>
        <p:spPr>
          <a:xfrm xmlns:a="http://schemas.openxmlformats.org/drawingml/2006/main">
            <a:off x="609600" y="202882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65C"/>
                </a:solidFill>
                <a:latin typeface="DejaVu Sans"/>
                <a:ea typeface="DejaVu Sans"/>
                <a:cs typeface="DejaVu Sans"/>
              </a:defRPr>
            </a:pPr>
            <a:r>
              <a:rPr sz="1500" b="1">
                <a:solidFill>
                  <a:srgbClr val="16765C"/>
                </a:solidFill>
                <a:latin typeface="DejaVu Sans"/>
                <a:ea typeface="DejaVu Sans"/>
                <a:cs typeface="DejaVu Sans"/>
              </a:rPr>
              <a:t>CAMPUS STORES &amp; PROCUREMENT STAFF</a:t>
            </a:r>
          </a:p>
        </p:txBody>
      </p:sp>
      <p:sp>
        <p:nvSpPr>
          <p:cNvPr id="6" name="">
            <a:extLst xmlns:a="http://schemas.openxmlformats.org/drawingml/2006/main">
              <a:ext uri="{FF2B5EF4-FFF2-40B4-BE49-F238E27FC236}">
                <a16:creationId xmlns:a16="http://schemas.microsoft.com/office/drawing/2014/main" id="{670F30C8-DFFA-4B64-9A3D-DCEB350F10DB}"/>
              </a:ext>
            </a:extLst>
          </p:cNvPr>
          <p:cNvSpPr>
            <a:spLocks xmlns:a="http://schemas.openxmlformats.org/drawingml/2006/main" noGrp="1"/>
          </p:cNvSpPr>
          <p:nvPr/>
        </p:nvSpPr>
        <p:spPr>
          <a:xfrm xmlns:a="http://schemas.openxmlformats.org/drawingml/2006/main">
            <a:off x="609600" y="2486025"/>
            <a:ext cx="50482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Surplus equipment</a:t>
            </a:r>
          </a:p>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sits outside the</a:t>
            </a:r>
          </a:p>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purchasing workflow.</a:t>
            </a:r>
          </a:p>
        </p:txBody>
      </p:sp>
      <p:sp>
        <p:nvSpPr>
          <p:cNvPr id="7" name="">
            <a:extLst xmlns:a="http://schemas.openxmlformats.org/drawingml/2006/main">
              <a:ext uri="{FF2B5EF4-FFF2-40B4-BE49-F238E27FC236}">
                <a16:creationId xmlns:a16="http://schemas.microsoft.com/office/drawing/2014/main" id="{EC6595A9-50C5-42BA-B704-C99E011A2A49}"/>
              </a:ext>
            </a:extLst>
          </p:cNvPr>
          <p:cNvSpPr>
            <a:spLocks xmlns:a="http://schemas.openxmlformats.org/drawingml/2006/main" noGrp="1"/>
          </p:cNvSpPr>
          <p:nvPr/>
        </p:nvSpPr>
        <p:spPr>
          <a:xfrm xmlns:a="http://schemas.openxmlformats.org/drawingml/2006/main">
            <a:off x="6524625" y="1924050"/>
            <a:ext cx="5057775" cy="257175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F170EF-1846-4C50-A259-3879BE5F4F37}"/>
              </a:ext>
            </a:extLst>
          </p:cNvPr>
          <p:cNvSpPr>
            <a:spLocks xmlns:a="http://schemas.openxmlformats.org/drawingml/2006/main" noGrp="1"/>
          </p:cNvSpPr>
          <p:nvPr/>
        </p:nvSpPr>
        <p:spPr>
          <a:xfrm xmlns:a="http://schemas.openxmlformats.org/drawingml/2006/main">
            <a:off x="6829425" y="21526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F791"/>
                </a:solidFill>
                <a:latin typeface="DejaVu Sans"/>
                <a:ea typeface="DejaVu Sans"/>
                <a:cs typeface="DejaVu Sans"/>
              </a:defRPr>
            </a:pPr>
            <a:r>
              <a:rPr sz="1500" b="1">
                <a:solidFill>
                  <a:srgbClr val="D1F791"/>
                </a:solidFill>
                <a:latin typeface="DejaVu Sans"/>
                <a:ea typeface="DejaVu Sans"/>
                <a:cs typeface="DejaVu Sans"/>
              </a:rPr>
              <a:t>SCHOOL COORDINATOR</a:t>
            </a:r>
          </a:p>
        </p:txBody>
      </p:sp>
      <p:sp>
        <p:nvSpPr>
          <p:cNvPr id="9" name="">
            <a:extLst xmlns:a="http://schemas.openxmlformats.org/drawingml/2006/main">
              <a:ext uri="{FF2B5EF4-FFF2-40B4-BE49-F238E27FC236}">
                <a16:creationId xmlns:a16="http://schemas.microsoft.com/office/drawing/2014/main" id="{5663CE24-388B-4C41-8ED7-2045FAB7C092}"/>
              </a:ext>
            </a:extLst>
          </p:cNvPr>
          <p:cNvSpPr>
            <a:spLocks xmlns:a="http://schemas.openxmlformats.org/drawingml/2006/main" noGrp="1"/>
          </p:cNvSpPr>
          <p:nvPr/>
        </p:nvSpPr>
        <p:spPr>
          <a:xfrm xmlns:a="http://schemas.openxmlformats.org/drawingml/2006/main">
            <a:off x="6829425" y="2800350"/>
            <a:ext cx="4476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“We need two displays</a:t>
            </a:r>
          </a:p>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for our computer lab.”</a:t>
            </a:r>
          </a:p>
        </p:txBody>
      </p:sp>
      <p:sp>
        <p:nvSpPr>
          <p:cNvPr id="10" name="">
            <a:extLst xmlns:a="http://schemas.openxmlformats.org/drawingml/2006/main">
              <a:ext uri="{FF2B5EF4-FFF2-40B4-BE49-F238E27FC236}">
                <a16:creationId xmlns:a16="http://schemas.microsoft.com/office/drawing/2014/main" id="{420C51C8-C4CA-46BC-A991-2ADF4D71A556}"/>
              </a:ext>
            </a:extLst>
          </p:cNvPr>
          <p:cNvSpPr>
            <a:spLocks xmlns:a="http://schemas.openxmlformats.org/drawingml/2006/main" noGrp="1"/>
          </p:cNvSpPr>
          <p:nvPr/>
        </p:nvSpPr>
        <p:spPr>
          <a:xfrm xmlns:a="http://schemas.openxmlformats.org/drawingml/2006/main">
            <a:off x="609600" y="4886325"/>
            <a:ext cx="10972800" cy="19050"/>
          </a:xfrm>
          <a:prstGeom xmlns:a="http://schemas.openxmlformats.org/drawingml/2006/main" prst="rect">
            <a:avLst/>
          </a:prstGeom>
          <a:solidFill xmlns:a="http://schemas.openxmlformats.org/drawingml/2006/main">
            <a:srgbClr val="CCD9C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EE5F5A-8162-4E71-80C4-1C42CC804AFE}"/>
              </a:ext>
            </a:extLst>
          </p:cNvPr>
          <p:cNvSpPr>
            <a:spLocks xmlns:a="http://schemas.openxmlformats.org/drawingml/2006/main" noGrp="1"/>
          </p:cNvSpPr>
          <p:nvPr/>
        </p:nvSpPr>
        <p:spPr>
          <a:xfrm xmlns:a="http://schemas.openxmlformats.org/drawingml/2006/main">
            <a:off x="609600" y="5153025"/>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65C"/>
                </a:solidFill>
                <a:latin typeface="DejaVu Sans"/>
                <a:ea typeface="DejaVu Sans"/>
                <a:cs typeface="DejaVu Sans"/>
              </a:defRPr>
            </a:pPr>
            <a:r>
              <a:rPr sz="2175" b="1">
                <a:solidFill>
                  <a:srgbClr val="16765C"/>
                </a:solidFill>
                <a:latin typeface="DejaVu Sans"/>
                <a:ea typeface="DejaVu Sans"/>
                <a:cs typeface="DejaVu Sans"/>
              </a:rPr>
              <a:t>How might AI connect reusable campus stock with school needs</a:t>
            </a:r>
          </a:p>
          <a:p xmlns:a="http://schemas.openxmlformats.org/drawingml/2006/main">
            <a:pPr>
              <a:defRPr sz="2175" b="1">
                <a:solidFill>
                  <a:srgbClr val="16765C"/>
                </a:solidFill>
                <a:latin typeface="DejaVu Sans"/>
                <a:ea typeface="DejaVu Sans"/>
                <a:cs typeface="DejaVu Sans"/>
              </a:defRPr>
            </a:pPr>
            <a:r>
              <a:rPr sz="2175" b="1">
                <a:solidFill>
                  <a:srgbClr val="16765C"/>
                </a:solidFill>
                <a:latin typeface="DejaVu Sans"/>
                <a:ea typeface="DejaVu Sans"/>
                <a:cs typeface="DejaVu Sans"/>
              </a:rPr>
              <a:t>so institutions can avoid unnecessary purchases?</a:t>
            </a:r>
          </a:p>
        </p:txBody>
      </p:sp>
    </p:spTree>
    <p:extLst>
      <p:ext uri="{BB962C8B-B14F-4D97-AF65-F5344CB8AC3E}">
        <p14:creationId xmlns:p14="http://schemas.microsoft.com/office/powerpoint/2010/main" val="1716001531"/>
      </p:ext>
    </p:extLst>
  </p:cSld>
</p:sld>
</file>

<file path=ppt/slides/slide3.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76ECCDD-800D-4043-B0CE-D888D1862DBE}"/>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027C55FF-159E-4BCA-9DA7-7921A5EC991B}"/>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SDG 12 leads the project</a:t>
            </a:r>
          </a:p>
        </p:txBody>
      </p:sp>
      <p:sp>
        <p:nvSpPr>
          <p:cNvPr id="3" name="">
            <a:extLst xmlns:a="http://schemas.openxmlformats.org/drawingml/2006/main">
              <a:ext uri="{FF2B5EF4-FFF2-40B4-BE49-F238E27FC236}">
                <a16:creationId xmlns:a16="http://schemas.microsoft.com/office/drawing/2014/main" id="{82321B8F-EA98-4604-A911-73FCE4260152}"/>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FC092378-86B3-4542-87E0-FF7B5935489D}"/>
              </a:ext>
            </a:extLst>
          </p:cNvPr>
          <p:cNvSpPr>
            <a:spLocks xmlns:a="http://schemas.openxmlformats.org/drawingml/2006/main" noGrp="1"/>
          </p:cNvSpPr>
          <p:nvPr/>
        </p:nvSpPr>
        <p:spPr>
          <a:xfrm xmlns:a="http://schemas.openxmlformats.org/drawingml/2006/main">
            <a:off x="609600" y="2000250"/>
            <a:ext cx="5200650" cy="40005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6C0BA0-BC90-4AF6-AAF8-9953B44A7B16}"/>
              </a:ext>
            </a:extLst>
          </p:cNvPr>
          <p:cNvSpPr>
            <a:spLocks xmlns:a="http://schemas.openxmlformats.org/drawingml/2006/main" noGrp="1"/>
          </p:cNvSpPr>
          <p:nvPr/>
        </p:nvSpPr>
        <p:spPr>
          <a:xfrm xmlns:a="http://schemas.openxmlformats.org/drawingml/2006/main">
            <a:off x="895350" y="2209800"/>
            <a:ext cx="257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75" b="1">
                <a:solidFill>
                  <a:srgbClr val="D1F791"/>
                </a:solidFill>
                <a:latin typeface="DejaVu Sans"/>
                <a:ea typeface="DejaVu Sans"/>
                <a:cs typeface="DejaVu Sans"/>
              </a:defRPr>
            </a:pPr>
            <a:r>
              <a:rPr sz="7875" b="1">
                <a:solidFill>
                  <a:srgbClr val="D1F791"/>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B0A3D1BE-847C-4E56-BFF3-96271A12248F}"/>
              </a:ext>
            </a:extLst>
          </p:cNvPr>
          <p:cNvSpPr>
            <a:spLocks xmlns:a="http://schemas.openxmlformats.org/drawingml/2006/main" noGrp="1"/>
          </p:cNvSpPr>
          <p:nvPr/>
        </p:nvSpPr>
        <p:spPr>
          <a:xfrm xmlns:a="http://schemas.openxmlformats.org/drawingml/2006/main">
            <a:off x="895350" y="3810000"/>
            <a:ext cx="4648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Responsible Consumption</a:t>
            </a:r>
          </a:p>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and Production</a:t>
            </a:r>
          </a:p>
        </p:txBody>
      </p:sp>
      <p:sp>
        <p:nvSpPr>
          <p:cNvPr id="7" name="">
            <a:extLst xmlns:a="http://schemas.openxmlformats.org/drawingml/2006/main">
              <a:ext uri="{FF2B5EF4-FFF2-40B4-BE49-F238E27FC236}">
                <a16:creationId xmlns:a16="http://schemas.microsoft.com/office/drawing/2014/main" id="{3ED420E7-1438-4E2E-B60D-670AFADC404B}"/>
              </a:ext>
            </a:extLst>
          </p:cNvPr>
          <p:cNvSpPr>
            <a:spLocks xmlns:a="http://schemas.openxmlformats.org/drawingml/2006/main" noGrp="1"/>
          </p:cNvSpPr>
          <p:nvPr/>
        </p:nvSpPr>
        <p:spPr>
          <a:xfrm xmlns:a="http://schemas.openxmlformats.org/drawingml/2006/main">
            <a:off x="895350" y="5000625"/>
            <a:ext cx="4648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Keep usable equipment in service.</a:t>
            </a:r>
          </a:p>
          <a:p xmlns:a="http://schemas.openxmlformats.org/drawingml/2006/main">
            <a:pPr>
              <a:defRPr sz="1800" b="0">
                <a:solidFill>
                  <a:srgbClr val="FFFFFF"/>
                </a:solidFill>
                <a:latin typeface="DejaVu Sans"/>
                <a:ea typeface="DejaVu Sans"/>
                <a:cs typeface="DejaVu Sans"/>
              </a:defRPr>
            </a:pPr>
            <a:r>
              <a:rPr sz="1800" b="0">
                <a:solidFill>
                  <a:srgbClr val="FFFFFF"/>
                </a:solidFill>
                <a:latin typeface="DejaVu Sans"/>
                <a:ea typeface="DejaVu Sans"/>
                <a:cs typeface="DejaVu Sans"/>
              </a:rPr>
              <a:t>Measure accepted reuse and mass.</a:t>
            </a:r>
          </a:p>
        </p:txBody>
      </p:sp>
      <p:sp>
        <p:nvSpPr>
          <p:cNvPr id="8" name="">
            <a:extLst xmlns:a="http://schemas.openxmlformats.org/drawingml/2006/main">
              <a:ext uri="{FF2B5EF4-FFF2-40B4-BE49-F238E27FC236}">
                <a16:creationId xmlns:a16="http://schemas.microsoft.com/office/drawing/2014/main" id="{BB6D71CC-0C38-49C4-A229-FC2272861796}"/>
              </a:ext>
            </a:extLst>
          </p:cNvPr>
          <p:cNvSpPr>
            <a:spLocks xmlns:a="http://schemas.openxmlformats.org/drawingml/2006/main" noGrp="1"/>
          </p:cNvSpPr>
          <p:nvPr/>
        </p:nvSpPr>
        <p:spPr>
          <a:xfrm xmlns:a="http://schemas.openxmlformats.org/drawingml/2006/main">
            <a:off x="6305550" y="208597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C83A42"/>
                </a:solidFill>
                <a:latin typeface="DejaVu Sans"/>
                <a:ea typeface="DejaVu Sans"/>
                <a:cs typeface="DejaVu Sans"/>
              </a:defRPr>
            </a:pPr>
            <a:r>
              <a:rPr sz="4800" b="1">
                <a:solidFill>
                  <a:srgbClr val="C83A42"/>
                </a:solidFill>
                <a:latin typeface="DejaVu Sans"/>
                <a:ea typeface="DejaVu Sans"/>
                <a:cs typeface="DejaVu Sans"/>
              </a:rPr>
              <a:t>04</a:t>
            </a:r>
          </a:p>
        </p:txBody>
      </p:sp>
      <p:sp>
        <p:nvSpPr>
          <p:cNvPr id="9" name="">
            <a:extLst xmlns:a="http://schemas.openxmlformats.org/drawingml/2006/main">
              <a:ext uri="{FF2B5EF4-FFF2-40B4-BE49-F238E27FC236}">
                <a16:creationId xmlns:a16="http://schemas.microsoft.com/office/drawing/2014/main" id="{24BF0033-4D85-4C53-A819-905285B88E30}"/>
              </a:ext>
            </a:extLst>
          </p:cNvPr>
          <p:cNvSpPr>
            <a:spLocks xmlns:a="http://schemas.openxmlformats.org/drawingml/2006/main" noGrp="1"/>
          </p:cNvSpPr>
          <p:nvPr/>
        </p:nvSpPr>
        <p:spPr>
          <a:xfrm xmlns:a="http://schemas.openxmlformats.org/drawingml/2006/main">
            <a:off x="8001000" y="2152650"/>
            <a:ext cx="350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E2A"/>
                </a:solidFill>
                <a:latin typeface="DejaVu Sans"/>
                <a:ea typeface="DejaVu Sans"/>
                <a:cs typeface="DejaVu Sans"/>
              </a:defRPr>
            </a:pPr>
            <a:r>
              <a:rPr sz="2100" b="1">
                <a:solidFill>
                  <a:srgbClr val="102E2A"/>
                </a:solidFill>
                <a:latin typeface="DejaVu Sans"/>
                <a:ea typeface="DejaVu Sans"/>
                <a:cs typeface="DejaVu Sans"/>
              </a:rPr>
              <a:t>Quality Education</a:t>
            </a:r>
          </a:p>
        </p:txBody>
      </p:sp>
      <p:sp>
        <p:nvSpPr>
          <p:cNvPr id="10" name="">
            <a:extLst xmlns:a="http://schemas.openxmlformats.org/drawingml/2006/main">
              <a:ext uri="{FF2B5EF4-FFF2-40B4-BE49-F238E27FC236}">
                <a16:creationId xmlns:a16="http://schemas.microsoft.com/office/drawing/2014/main" id="{950E3BF0-457B-4192-9EDB-A3AC95BFA848}"/>
              </a:ext>
            </a:extLst>
          </p:cNvPr>
          <p:cNvSpPr>
            <a:spLocks xmlns:a="http://schemas.openxmlformats.org/drawingml/2006/main" noGrp="1"/>
          </p:cNvSpPr>
          <p:nvPr/>
        </p:nvSpPr>
        <p:spPr>
          <a:xfrm xmlns:a="http://schemas.openxmlformats.org/drawingml/2006/main">
            <a:off x="8001000" y="2724150"/>
            <a:ext cx="350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Equip learning spaces.</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Check continued school use.</a:t>
            </a:r>
          </a:p>
        </p:txBody>
      </p:sp>
      <p:sp>
        <p:nvSpPr>
          <p:cNvPr id="11" name="">
            <a:extLst xmlns:a="http://schemas.openxmlformats.org/drawingml/2006/main">
              <a:ext uri="{FF2B5EF4-FFF2-40B4-BE49-F238E27FC236}">
                <a16:creationId xmlns:a16="http://schemas.microsoft.com/office/drawing/2014/main" id="{4DA7DD3F-164E-4465-ABCC-554023E88F50}"/>
              </a:ext>
            </a:extLst>
          </p:cNvPr>
          <p:cNvSpPr>
            <a:spLocks xmlns:a="http://schemas.openxmlformats.org/drawingml/2006/main" noGrp="1"/>
          </p:cNvSpPr>
          <p:nvPr/>
        </p:nvSpPr>
        <p:spPr>
          <a:xfrm xmlns:a="http://schemas.openxmlformats.org/drawingml/2006/main">
            <a:off x="6305550" y="3895725"/>
            <a:ext cx="5276850" cy="19050"/>
          </a:xfrm>
          <a:prstGeom xmlns:a="http://schemas.openxmlformats.org/drawingml/2006/main" prst="rect">
            <a:avLst/>
          </a:prstGeom>
          <a:solidFill xmlns:a="http://schemas.openxmlformats.org/drawingml/2006/main">
            <a:srgbClr val="CCD9C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65B5AC-F742-4338-AAC6-70496BC2124B}"/>
              </a:ext>
            </a:extLst>
          </p:cNvPr>
          <p:cNvSpPr>
            <a:spLocks xmlns:a="http://schemas.openxmlformats.org/drawingml/2006/main" noGrp="1"/>
          </p:cNvSpPr>
          <p:nvPr/>
        </p:nvSpPr>
        <p:spPr>
          <a:xfrm xmlns:a="http://schemas.openxmlformats.org/drawingml/2006/main">
            <a:off x="6305550" y="4362450"/>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304F80"/>
                </a:solidFill>
                <a:latin typeface="DejaVu Sans"/>
                <a:ea typeface="DejaVu Sans"/>
                <a:cs typeface="DejaVu Sans"/>
              </a:defRPr>
            </a:pPr>
            <a:r>
              <a:rPr sz="4800" b="1">
                <a:solidFill>
                  <a:srgbClr val="304F80"/>
                </a:solidFill>
                <a:latin typeface="DejaVu Sans"/>
                <a:ea typeface="DejaVu Sans"/>
                <a:cs typeface="DejaVu Sans"/>
              </a:rPr>
              <a:t>17</a:t>
            </a:r>
          </a:p>
        </p:txBody>
      </p:sp>
      <p:sp>
        <p:nvSpPr>
          <p:cNvPr id="13" name="">
            <a:extLst xmlns:a="http://schemas.openxmlformats.org/drawingml/2006/main">
              <a:ext uri="{FF2B5EF4-FFF2-40B4-BE49-F238E27FC236}">
                <a16:creationId xmlns:a16="http://schemas.microsoft.com/office/drawing/2014/main" id="{0EDD4508-3176-4383-B03B-C7DD4A6030C5}"/>
              </a:ext>
            </a:extLst>
          </p:cNvPr>
          <p:cNvSpPr>
            <a:spLocks xmlns:a="http://schemas.openxmlformats.org/drawingml/2006/main" noGrp="1"/>
          </p:cNvSpPr>
          <p:nvPr/>
        </p:nvSpPr>
        <p:spPr>
          <a:xfrm xmlns:a="http://schemas.openxmlformats.org/drawingml/2006/main">
            <a:off x="8001000" y="4248150"/>
            <a:ext cx="350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E2A"/>
                </a:solidFill>
                <a:latin typeface="DejaVu Sans"/>
                <a:ea typeface="DejaVu Sans"/>
                <a:cs typeface="DejaVu Sans"/>
              </a:defRPr>
            </a:pPr>
            <a:r>
              <a:rPr sz="2100" b="1">
                <a:solidFill>
                  <a:srgbClr val="102E2A"/>
                </a:solidFill>
                <a:latin typeface="DejaVu Sans"/>
                <a:ea typeface="DejaVu Sans"/>
                <a:cs typeface="DejaVu Sans"/>
              </a:rPr>
              <a:t>Partnerships for the Goals</a:t>
            </a:r>
          </a:p>
        </p:txBody>
      </p:sp>
      <p:sp>
        <p:nvSpPr>
          <p:cNvPr id="14" name="">
            <a:extLst xmlns:a="http://schemas.openxmlformats.org/drawingml/2006/main">
              <a:ext uri="{FF2B5EF4-FFF2-40B4-BE49-F238E27FC236}">
                <a16:creationId xmlns:a16="http://schemas.microsoft.com/office/drawing/2014/main" id="{58CCA1BC-20B8-4621-889A-FE56A38B97E1}"/>
              </a:ext>
            </a:extLst>
          </p:cNvPr>
          <p:cNvSpPr>
            <a:spLocks xmlns:a="http://schemas.openxmlformats.org/drawingml/2006/main" noGrp="1"/>
          </p:cNvSpPr>
          <p:nvPr/>
        </p:nvSpPr>
        <p:spPr>
          <a:xfrm xmlns:a="http://schemas.openxmlformats.org/drawingml/2006/main">
            <a:off x="8001000" y="5133975"/>
            <a:ext cx="350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Enable school sharing.</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Track active partners.</a:t>
            </a:r>
          </a:p>
        </p:txBody>
      </p:sp>
    </p:spTree>
    <p:extLst>
      <p:ext uri="{BB962C8B-B14F-4D97-AF65-F5344CB8AC3E}">
        <p14:creationId xmlns:p14="http://schemas.microsoft.com/office/powerpoint/2010/main" val="1400074043"/>
      </p:ext>
    </p:extLst>
  </p:cSld>
</p:sld>
</file>

<file path=ppt/slides/slide4.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5851880-470B-4D5A-9D48-EEDE7688019B}"/>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EDF0FEBB-B6D4-4657-90DE-AB5113FB0C2C}"/>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A reuse loop with people at the decision point</a:t>
            </a:r>
          </a:p>
        </p:txBody>
      </p:sp>
      <p:sp>
        <p:nvSpPr>
          <p:cNvPr id="3" name="">
            <a:extLst xmlns:a="http://schemas.openxmlformats.org/drawingml/2006/main">
              <a:ext uri="{FF2B5EF4-FFF2-40B4-BE49-F238E27FC236}">
                <a16:creationId xmlns:a16="http://schemas.microsoft.com/office/drawing/2014/main" id="{220DA81C-00EC-46EC-BC8B-4DC27CE12317}"/>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04</a:t>
            </a:r>
          </a:p>
        </p:txBody>
      </p:sp>
      <p:sp>
        <p:nvSpPr>
          <p:cNvPr id="4" name="">
            <a:extLst xmlns:a="http://schemas.openxmlformats.org/drawingml/2006/main">
              <a:ext uri="{FF2B5EF4-FFF2-40B4-BE49-F238E27FC236}">
                <a16:creationId xmlns:a16="http://schemas.microsoft.com/office/drawing/2014/main" id="{6F2B209E-8C63-49CB-9606-8496428581A8}"/>
              </a:ext>
            </a:extLst>
          </p:cNvPr>
          <p:cNvSpPr>
            <a:spLocks xmlns:a="http://schemas.openxmlformats.org/drawingml/2006/main" noGrp="1"/>
          </p:cNvSpPr>
          <p:nvPr/>
        </p:nvSpPr>
        <p:spPr>
          <a:xfrm xmlns:a="http://schemas.openxmlformats.org/drawingml/2006/main">
            <a:off x="609600" y="2114550"/>
            <a:ext cx="2857500" cy="8382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3343882-E1C5-46C8-8882-1953E8FDAAED}"/>
              </a:ext>
            </a:extLst>
          </p:cNvPr>
          <p:cNvSpPr>
            <a:spLocks xmlns:a="http://schemas.openxmlformats.org/drawingml/2006/main" noGrp="1"/>
          </p:cNvSpPr>
          <p:nvPr/>
        </p:nvSpPr>
        <p:spPr>
          <a:xfrm xmlns:a="http://schemas.openxmlformats.org/drawingml/2006/main">
            <a:off x="800100" y="22764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Describe the need</a:t>
            </a:r>
          </a:p>
        </p:txBody>
      </p:sp>
      <p:sp>
        <p:nvSpPr>
          <p:cNvPr id="6" name="">
            <a:extLst xmlns:a="http://schemas.openxmlformats.org/drawingml/2006/main">
              <a:ext uri="{FF2B5EF4-FFF2-40B4-BE49-F238E27FC236}">
                <a16:creationId xmlns:a16="http://schemas.microsoft.com/office/drawing/2014/main" id="{0C55BFA1-8AA4-4297-A44B-3EF7DE28803E}"/>
              </a:ext>
            </a:extLst>
          </p:cNvPr>
          <p:cNvSpPr>
            <a:spLocks xmlns:a="http://schemas.openxmlformats.org/drawingml/2006/main" noGrp="1"/>
          </p:cNvSpPr>
          <p:nvPr/>
        </p:nvSpPr>
        <p:spPr>
          <a:xfrm xmlns:a="http://schemas.openxmlformats.org/drawingml/2006/main">
            <a:off x="4648200" y="2114550"/>
            <a:ext cx="2857500" cy="8382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14C3C8-004B-40A2-A574-B84B8C055B65}"/>
              </a:ext>
            </a:extLst>
          </p:cNvPr>
          <p:cNvSpPr>
            <a:spLocks xmlns:a="http://schemas.openxmlformats.org/drawingml/2006/main" noGrp="1"/>
          </p:cNvSpPr>
          <p:nvPr/>
        </p:nvSpPr>
        <p:spPr>
          <a:xfrm xmlns:a="http://schemas.openxmlformats.org/drawingml/2006/main">
            <a:off x="4838700" y="22764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Rank suitable stock</a:t>
            </a:r>
          </a:p>
        </p:txBody>
      </p:sp>
      <p:sp>
        <p:nvSpPr>
          <p:cNvPr id="8" name="">
            <a:extLst xmlns:a="http://schemas.openxmlformats.org/drawingml/2006/main">
              <a:ext uri="{FF2B5EF4-FFF2-40B4-BE49-F238E27FC236}">
                <a16:creationId xmlns:a16="http://schemas.microsoft.com/office/drawing/2014/main" id="{4503F3EF-A239-41F4-A35B-9A58282E8B5D}"/>
              </a:ext>
            </a:extLst>
          </p:cNvPr>
          <p:cNvSpPr>
            <a:spLocks xmlns:a="http://schemas.openxmlformats.org/drawingml/2006/main" noGrp="1"/>
          </p:cNvSpPr>
          <p:nvPr/>
        </p:nvSpPr>
        <p:spPr>
          <a:xfrm xmlns:a="http://schemas.openxmlformats.org/drawingml/2006/main">
            <a:off x="8705850" y="2114550"/>
            <a:ext cx="2857500" cy="838200"/>
          </a:xfrm>
          <a:prstGeom xmlns:a="http://schemas.openxmlformats.org/drawingml/2006/main" prst="rect">
            <a:avLst/>
          </a:prstGeom>
          <a:solidFill xmlns:a="http://schemas.openxmlformats.org/drawingml/2006/main">
            <a:srgbClr val="F8BC8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C1A64B-1DC2-4121-88EB-33BF599225D4}"/>
              </a:ext>
            </a:extLst>
          </p:cNvPr>
          <p:cNvSpPr>
            <a:spLocks xmlns:a="http://schemas.openxmlformats.org/drawingml/2006/main" noGrp="1"/>
          </p:cNvSpPr>
          <p:nvPr/>
        </p:nvSpPr>
        <p:spPr>
          <a:xfrm xmlns:a="http://schemas.openxmlformats.org/drawingml/2006/main">
            <a:off x="8896350" y="22764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Inspect and approve</a:t>
            </a:r>
          </a:p>
        </p:txBody>
      </p:sp>
      <p:sp>
        <p:nvSpPr>
          <p:cNvPr id="10" name="">
            <a:extLst xmlns:a="http://schemas.openxmlformats.org/drawingml/2006/main">
              <a:ext uri="{FF2B5EF4-FFF2-40B4-BE49-F238E27FC236}">
                <a16:creationId xmlns:a16="http://schemas.microsoft.com/office/drawing/2014/main" id="{667D82BA-DE8C-4650-8DA2-E7632FCB2D01}"/>
              </a:ext>
            </a:extLst>
          </p:cNvPr>
          <p:cNvSpPr>
            <a:spLocks xmlns:a="http://schemas.openxmlformats.org/drawingml/2006/main" noGrp="1"/>
          </p:cNvSpPr>
          <p:nvPr/>
        </p:nvSpPr>
        <p:spPr>
          <a:xfrm xmlns:a="http://schemas.openxmlformats.org/drawingml/2006/main">
            <a:off x="8705850" y="4286250"/>
            <a:ext cx="2857500" cy="8382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77BDC5-760D-444E-8E0F-C4871729D8DA}"/>
              </a:ext>
            </a:extLst>
          </p:cNvPr>
          <p:cNvSpPr>
            <a:spLocks xmlns:a="http://schemas.openxmlformats.org/drawingml/2006/main" noGrp="1"/>
          </p:cNvSpPr>
          <p:nvPr/>
        </p:nvSpPr>
        <p:spPr>
          <a:xfrm xmlns:a="http://schemas.openxmlformats.org/drawingml/2006/main">
            <a:off x="8896350" y="44481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Record the transfer</a:t>
            </a:r>
          </a:p>
        </p:txBody>
      </p:sp>
      <p:sp>
        <p:nvSpPr>
          <p:cNvPr id="12" name="">
            <a:extLst xmlns:a="http://schemas.openxmlformats.org/drawingml/2006/main">
              <a:ext uri="{FF2B5EF4-FFF2-40B4-BE49-F238E27FC236}">
                <a16:creationId xmlns:a16="http://schemas.microsoft.com/office/drawing/2014/main" id="{4C4044CF-7DEE-4827-A701-4813608C64A1}"/>
              </a:ext>
            </a:extLst>
          </p:cNvPr>
          <p:cNvSpPr>
            <a:spLocks xmlns:a="http://schemas.openxmlformats.org/drawingml/2006/main" noGrp="1"/>
          </p:cNvSpPr>
          <p:nvPr/>
        </p:nvSpPr>
        <p:spPr>
          <a:xfrm xmlns:a="http://schemas.openxmlformats.org/drawingml/2006/main">
            <a:off x="4648200" y="4286250"/>
            <a:ext cx="2857500" cy="838200"/>
          </a:xfrm>
          <a:prstGeom xmlns:a="http://schemas.openxmlformats.org/drawingml/2006/main" prst="rect">
            <a:avLst/>
          </a:prstGeom>
          <a:solidFill xmlns:a="http://schemas.openxmlformats.org/drawingml/2006/main">
            <a:srgbClr val="E6EE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C3AA08-F436-4D79-BFD7-4004D83677E4}"/>
              </a:ext>
            </a:extLst>
          </p:cNvPr>
          <p:cNvSpPr>
            <a:spLocks xmlns:a="http://schemas.openxmlformats.org/drawingml/2006/main" noGrp="1"/>
          </p:cNvSpPr>
          <p:nvPr/>
        </p:nvSpPr>
        <p:spPr>
          <a:xfrm xmlns:a="http://schemas.openxmlformats.org/drawingml/2006/main">
            <a:off x="4838700" y="4448175"/>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Follow up on use</a:t>
            </a:r>
          </a:p>
        </p:txBody>
      </p:sp>
      <p:cxnSp>
        <p:nvCxnSpPr>
          <p:cNvPr id="35" name=""/>
          <p:cNvCxnSpPr>
            <a:stCxn xmlns:a="http://schemas.openxmlformats.org/drawingml/2006/main" id="4" idx="3"/>
            <a:endCxn xmlns:a="http://schemas.openxmlformats.org/drawingml/2006/main" id="6" idx="1"/>
          </p:cNvCxnSpPr>
          <p:nvPr/>
        </p:nvCxnSpPr>
        <p:spPr>
          <a:xfrm xmlns:a="http://schemas.openxmlformats.org/drawingml/2006/main">
            <a:off x="3467100" y="2533650"/>
            <a:ext cx="1181100" cy="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6" name=""/>
          <p:cNvCxnSpPr>
            <a:stCxn xmlns:a="http://schemas.openxmlformats.org/drawingml/2006/main" id="6" idx="3"/>
            <a:endCxn xmlns:a="http://schemas.openxmlformats.org/drawingml/2006/main" id="8" idx="1"/>
          </p:cNvCxnSpPr>
          <p:nvPr/>
        </p:nvCxnSpPr>
        <p:spPr>
          <a:xfrm xmlns:a="http://schemas.openxmlformats.org/drawingml/2006/main">
            <a:off x="7505700" y="2533650"/>
            <a:ext cx="1200150" cy="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7" name=""/>
          <p:cNvCxnSpPr>
            <a:stCxn xmlns:a="http://schemas.openxmlformats.org/drawingml/2006/main" id="8" idx="2"/>
            <a:endCxn xmlns:a="http://schemas.openxmlformats.org/drawingml/2006/main" id="10" idx="0"/>
          </p:cNvCxnSpPr>
          <p:nvPr/>
        </p:nvCxnSpPr>
        <p:spPr>
          <a:xfrm xmlns:a="http://schemas.openxmlformats.org/drawingml/2006/main">
            <a:off x="10134600" y="2952750"/>
            <a:ext cx="0" cy="133350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8" name=""/>
          <p:cNvCxnSpPr>
            <a:stCxn xmlns:a="http://schemas.openxmlformats.org/drawingml/2006/main" id="10" idx="1"/>
            <a:endCxn xmlns:a="http://schemas.openxmlformats.org/drawingml/2006/main" id="12" idx="3"/>
          </p:cNvCxnSpPr>
          <p:nvPr/>
        </p:nvCxnSpPr>
        <p:spPr>
          <a:xfrm xmlns:a="http://schemas.openxmlformats.org/drawingml/2006/main" flipH="1">
            <a:off x="7505700" y="4705350"/>
            <a:ext cx="1200150" cy="0"/>
          </a:xfrm>
          <a:prstGeom xmlns:a="http://schemas.openxmlformats.org/drawingml/2006/main" prst="straightConnector1">
            <a:avLst/>
          </a:prstGeom>
          <a:ln xmlns:a="http://schemas.openxmlformats.org/drawingml/2006/main" w="28575">
            <a:solidFill>
              <a:srgbClr val="16765C"/>
            </a:solidFill>
            <a:tailEnd type="arrow" w="med" len="med"/>
          </a:ln>
        </p:spPr>
      </p:cxnSp>
      <p:sp>
        <p:nvSpPr>
          <p:cNvPr id="18" name="">
            <a:extLst xmlns:a="http://schemas.openxmlformats.org/drawingml/2006/main">
              <a:ext uri="{FF2B5EF4-FFF2-40B4-BE49-F238E27FC236}">
                <a16:creationId xmlns:a16="http://schemas.microsoft.com/office/drawing/2014/main" id="{D2D1B839-E8D9-40B1-B967-766871A1D41C}"/>
              </a:ext>
            </a:extLst>
          </p:cNvPr>
          <p:cNvSpPr>
            <a:spLocks xmlns:a="http://schemas.openxmlformats.org/drawingml/2006/main" noGrp="1"/>
          </p:cNvSpPr>
          <p:nvPr/>
        </p:nvSpPr>
        <p:spPr>
          <a:xfrm xmlns:a="http://schemas.openxmlformats.org/drawingml/2006/main">
            <a:off x="609600" y="318135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Request + recipient</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Quantity + distance</a:t>
            </a:r>
          </a:p>
        </p:txBody>
      </p:sp>
      <p:sp>
        <p:nvSpPr>
          <p:cNvPr id="19" name="">
            <a:extLst xmlns:a="http://schemas.openxmlformats.org/drawingml/2006/main">
              <a:ext uri="{FF2B5EF4-FFF2-40B4-BE49-F238E27FC236}">
                <a16:creationId xmlns:a16="http://schemas.microsoft.com/office/drawing/2014/main" id="{0A1AF59C-E5E8-4473-9DB2-3158E355B03F}"/>
              </a:ext>
            </a:extLst>
          </p:cNvPr>
          <p:cNvSpPr>
            <a:spLocks xmlns:a="http://schemas.openxmlformats.org/drawingml/2006/main" noGrp="1"/>
          </p:cNvSpPr>
          <p:nvPr/>
        </p:nvSpPr>
        <p:spPr>
          <a:xfrm xmlns:a="http://schemas.openxmlformats.org/drawingml/2006/main">
            <a:off x="4648200" y="31813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Text relevance + eligibility</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Repair preference + stock</a:t>
            </a:r>
          </a:p>
        </p:txBody>
      </p:sp>
      <p:sp>
        <p:nvSpPr>
          <p:cNvPr id="20" name="">
            <a:extLst xmlns:a="http://schemas.openxmlformats.org/drawingml/2006/main">
              <a:ext uri="{FF2B5EF4-FFF2-40B4-BE49-F238E27FC236}">
                <a16:creationId xmlns:a16="http://schemas.microsoft.com/office/drawing/2014/main" id="{5D0A2A04-C353-46C1-B2DB-A6833D701FEE}"/>
              </a:ext>
            </a:extLst>
          </p:cNvPr>
          <p:cNvSpPr>
            <a:spLocks xmlns:a="http://schemas.openxmlformats.org/drawingml/2006/main" noGrp="1"/>
          </p:cNvSpPr>
          <p:nvPr/>
        </p:nvSpPr>
        <p:spPr>
          <a:xfrm xmlns:a="http://schemas.openxmlformats.org/drawingml/2006/main">
            <a:off x="4648200" y="53530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65C"/>
                </a:solidFill>
                <a:latin typeface="DejaVu Sans"/>
                <a:ea typeface="DejaVu Sans"/>
                <a:cs typeface="DejaVu Sans"/>
              </a:defRPr>
            </a:pPr>
            <a:r>
              <a:rPr sz="1800" b="0">
                <a:solidFill>
                  <a:srgbClr val="16765C"/>
                </a:solidFill>
                <a:latin typeface="DejaVu Sans"/>
                <a:ea typeface="DejaVu Sans"/>
                <a:cs typeface="DejaVu Sans"/>
              </a:rPr>
              <a:t>Planned pilot</a:t>
            </a:r>
          </a:p>
          <a:p xmlns:a="http://schemas.openxmlformats.org/drawingml/2006/main">
            <a:pPr>
              <a:defRPr sz="1800" b="0">
                <a:solidFill>
                  <a:srgbClr val="16765C"/>
                </a:solidFill>
                <a:latin typeface="DejaVu Sans"/>
                <a:ea typeface="DejaVu Sans"/>
                <a:cs typeface="DejaVu Sans"/>
              </a:defRPr>
            </a:pPr>
            <a:r>
              <a:rPr sz="1800" b="0">
                <a:solidFill>
                  <a:srgbClr val="16765C"/>
                </a:solidFill>
                <a:latin typeface="DejaVu Sans"/>
                <a:ea typeface="DejaVu Sans"/>
                <a:cs typeface="DejaVu Sans"/>
              </a:rPr>
              <a:t>30 / 90 days</a:t>
            </a:r>
          </a:p>
        </p:txBody>
      </p:sp>
      <p:sp>
        <p:nvSpPr>
          <p:cNvPr id="21" name="">
            <a:extLst xmlns:a="http://schemas.openxmlformats.org/drawingml/2006/main">
              <a:ext uri="{FF2B5EF4-FFF2-40B4-BE49-F238E27FC236}">
                <a16:creationId xmlns:a16="http://schemas.microsoft.com/office/drawing/2014/main" id="{58098E52-B5BF-4B21-99A8-6BE6FAE717CB}"/>
              </a:ext>
            </a:extLst>
          </p:cNvPr>
          <p:cNvSpPr>
            <a:spLocks xmlns:a="http://schemas.openxmlformats.org/drawingml/2006/main" noGrp="1"/>
          </p:cNvSpPr>
          <p:nvPr/>
        </p:nvSpPr>
        <p:spPr>
          <a:xfrm xmlns:a="http://schemas.openxmlformats.org/drawingml/2006/main">
            <a:off x="8705850" y="5353050"/>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65C"/>
                </a:solidFill>
                <a:latin typeface="DejaVu Sans"/>
                <a:ea typeface="DejaVu Sans"/>
                <a:cs typeface="DejaVu Sans"/>
              </a:defRPr>
            </a:pPr>
            <a:r>
              <a:rPr sz="1800" b="0">
                <a:solidFill>
                  <a:srgbClr val="16765C"/>
                </a:solidFill>
                <a:latin typeface="DejaVu Sans"/>
                <a:ea typeface="DejaVu Sans"/>
                <a:cs typeface="DejaVu Sans"/>
              </a:rPr>
              <a:t>Implemented</a:t>
            </a:r>
          </a:p>
          <a:p xmlns:a="http://schemas.openxmlformats.org/drawingml/2006/main">
            <a:pPr>
              <a:defRPr sz="1800" b="0">
                <a:solidFill>
                  <a:srgbClr val="16765C"/>
                </a:solidFill>
                <a:latin typeface="DejaVu Sans"/>
                <a:ea typeface="DejaVu Sans"/>
                <a:cs typeface="DejaVu Sans"/>
              </a:defRPr>
            </a:pPr>
            <a:r>
              <a:rPr sz="1800" b="0">
                <a:solidFill>
                  <a:srgbClr val="16765C"/>
                </a:solidFill>
                <a:latin typeface="DejaVu Sans"/>
                <a:ea typeface="DejaVu Sans"/>
                <a:cs typeface="DejaVu Sans"/>
              </a:rPr>
              <a:t>Stock + reuse ledger</a:t>
            </a:r>
          </a:p>
        </p:txBody>
      </p:sp>
    </p:spTree>
    <p:extLst>
      <p:ext uri="{BB962C8B-B14F-4D97-AF65-F5344CB8AC3E}">
        <p14:creationId xmlns:p14="http://schemas.microsoft.com/office/powerpoint/2010/main" val="1352465098"/>
      </p:ext>
    </p:extLst>
  </p:cSld>
</p:sld>
</file>

<file path=ppt/slides/slide5.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8072333-8822-4636-AD0D-3F5E22C3B1A9}"/>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796082C9-4FD5-456E-A0D1-2F74E2024596}"/>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AI retrieves candidates. Rules check eligibility.</a:t>
            </a:r>
          </a:p>
        </p:txBody>
      </p:sp>
      <p:sp>
        <p:nvSpPr>
          <p:cNvPr id="3" name="">
            <a:extLst xmlns:a="http://schemas.openxmlformats.org/drawingml/2006/main">
              <a:ext uri="{FF2B5EF4-FFF2-40B4-BE49-F238E27FC236}">
                <a16:creationId xmlns:a16="http://schemas.microsoft.com/office/drawing/2014/main" id="{21CFF371-2294-40FE-BCF1-0669A2D223CF}"/>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05</a:t>
            </a:r>
          </a:p>
        </p:txBody>
      </p:sp>
      <p:sp>
        <p:nvSpPr>
          <p:cNvPr id="4" name="">
            <a:extLst xmlns:a="http://schemas.openxmlformats.org/drawingml/2006/main">
              <a:ext uri="{FF2B5EF4-FFF2-40B4-BE49-F238E27FC236}">
                <a16:creationId xmlns:a16="http://schemas.microsoft.com/office/drawing/2014/main" id="{B9E7FC70-EFB9-429D-8AF4-23B6BC22EB7A}"/>
              </a:ext>
            </a:extLst>
          </p:cNvPr>
          <p:cNvSpPr>
            <a:spLocks xmlns:a="http://schemas.openxmlformats.org/drawingml/2006/main" noGrp="1"/>
          </p:cNvSpPr>
          <p:nvPr/>
        </p:nvSpPr>
        <p:spPr>
          <a:xfrm xmlns:a="http://schemas.openxmlformats.org/drawingml/2006/main">
            <a:off x="609600" y="2000250"/>
            <a:ext cx="3314700" cy="386715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AAD3B6-DE94-42AD-BD08-852DA68EFB19}"/>
              </a:ext>
            </a:extLst>
          </p:cNvPr>
          <p:cNvSpPr>
            <a:spLocks xmlns:a="http://schemas.openxmlformats.org/drawingml/2006/main" noGrp="1"/>
          </p:cNvSpPr>
          <p:nvPr/>
        </p:nvSpPr>
        <p:spPr>
          <a:xfrm xmlns:a="http://schemas.openxmlformats.org/drawingml/2006/main">
            <a:off x="838200" y="2257425"/>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D1F791"/>
                </a:solidFill>
                <a:latin typeface="DejaVu Sans"/>
                <a:ea typeface="DejaVu Sans"/>
                <a:cs typeface="DejaVu Sans"/>
              </a:defRPr>
            </a:pPr>
            <a:r>
              <a:rPr sz="1425" b="1">
                <a:solidFill>
                  <a:srgbClr val="D1F791"/>
                </a:solidFill>
                <a:latin typeface="DejaVu Sans"/>
                <a:ea typeface="DejaVu Sans"/>
                <a:cs typeface="DejaVu Sans"/>
              </a:rPr>
              <a:t>THE REQUEST</a:t>
            </a:r>
          </a:p>
        </p:txBody>
      </p:sp>
      <p:sp>
        <p:nvSpPr>
          <p:cNvPr id="6" name="">
            <a:extLst xmlns:a="http://schemas.openxmlformats.org/drawingml/2006/main">
              <a:ext uri="{FF2B5EF4-FFF2-40B4-BE49-F238E27FC236}">
                <a16:creationId xmlns:a16="http://schemas.microsoft.com/office/drawing/2014/main" id="{ACC6C9F0-CE3B-4401-B1A9-7B485351B9C9}"/>
              </a:ext>
            </a:extLst>
          </p:cNvPr>
          <p:cNvSpPr>
            <a:spLocks xmlns:a="http://schemas.openxmlformats.org/drawingml/2006/main" noGrp="1"/>
          </p:cNvSpPr>
          <p:nvPr/>
        </p:nvSpPr>
        <p:spPr>
          <a:xfrm xmlns:a="http://schemas.openxmlformats.org/drawingml/2006/main">
            <a:off x="838200" y="2990850"/>
            <a:ext cx="2857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“display for</a:t>
            </a:r>
          </a:p>
          <a:p xmlns:a="http://schemas.openxmlformats.org/drawingml/2006/main">
            <a:pPr>
              <a:defRPr sz="2625" b="1">
                <a:solidFill>
                  <a:srgbClr val="FFFFFF"/>
                </a:solidFill>
                <a:latin typeface="DejaVu Sans"/>
                <a:ea typeface="DejaVu Sans"/>
                <a:cs typeface="DejaVu Sans"/>
              </a:defRPr>
            </a:pPr>
            <a:r>
              <a:rPr sz="2625" b="1">
                <a:solidFill>
                  <a:srgbClr val="FFFFFF"/>
                </a:solidFill>
                <a:latin typeface="DejaVu Sans"/>
                <a:ea typeface="DejaVu Sans"/>
                <a:cs typeface="DejaVu Sans"/>
              </a:rPr>
              <a:t>computer lab”</a:t>
            </a:r>
          </a:p>
        </p:txBody>
      </p:sp>
      <p:sp>
        <p:nvSpPr>
          <p:cNvPr id="7" name="">
            <a:extLst xmlns:a="http://schemas.openxmlformats.org/drawingml/2006/main">
              <a:ext uri="{FF2B5EF4-FFF2-40B4-BE49-F238E27FC236}">
                <a16:creationId xmlns:a16="http://schemas.microsoft.com/office/drawing/2014/main" id="{70B3A7B4-FC8A-4386-8A02-63B8389F33BE}"/>
              </a:ext>
            </a:extLst>
          </p:cNvPr>
          <p:cNvSpPr>
            <a:spLocks xmlns:a="http://schemas.openxmlformats.org/drawingml/2006/main" noGrp="1"/>
          </p:cNvSpPr>
          <p:nvPr/>
        </p:nvSpPr>
        <p:spPr>
          <a:xfrm xmlns:a="http://schemas.openxmlformats.org/drawingml/2006/main">
            <a:off x="838200" y="4800600"/>
            <a:ext cx="285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Supported synonym:</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display = monitor</a:t>
            </a:r>
          </a:p>
        </p:txBody>
      </p:sp>
      <p:sp>
        <p:nvSpPr>
          <p:cNvPr id="8" name="">
            <a:extLst xmlns:a="http://schemas.openxmlformats.org/drawingml/2006/main">
              <a:ext uri="{FF2B5EF4-FFF2-40B4-BE49-F238E27FC236}">
                <a16:creationId xmlns:a16="http://schemas.microsoft.com/office/drawing/2014/main" id="{FD6F2401-A1D6-48E1-B561-FF8FAB5924D0}"/>
              </a:ext>
            </a:extLst>
          </p:cNvPr>
          <p:cNvSpPr>
            <a:spLocks xmlns:a="http://schemas.openxmlformats.org/drawingml/2006/main" noGrp="1"/>
          </p:cNvSpPr>
          <p:nvPr/>
        </p:nvSpPr>
        <p:spPr>
          <a:xfrm xmlns:a="http://schemas.openxmlformats.org/drawingml/2006/main">
            <a:off x="4362450" y="202882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765C"/>
                </a:solidFill>
                <a:latin typeface="DejaVu Sans"/>
                <a:ea typeface="DejaVu Sans"/>
                <a:cs typeface="DejaVu Sans"/>
              </a:defRPr>
            </a:pPr>
            <a:r>
              <a:rPr sz="2625" b="1">
                <a:solidFill>
                  <a:srgbClr val="16765C"/>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39FA7C0B-D149-4112-91EB-07221C49AF38}"/>
              </a:ext>
            </a:extLst>
          </p:cNvPr>
          <p:cNvSpPr>
            <a:spLocks xmlns:a="http://schemas.openxmlformats.org/drawingml/2006/main" noGrp="1"/>
          </p:cNvSpPr>
          <p:nvPr/>
        </p:nvSpPr>
        <p:spPr>
          <a:xfrm xmlns:a="http://schemas.openxmlformats.org/drawingml/2006/main">
            <a:off x="5267325" y="2028825"/>
            <a:ext cx="6315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2A"/>
                </a:solidFill>
                <a:latin typeface="DejaVu Sans"/>
                <a:ea typeface="DejaVu Sans"/>
                <a:cs typeface="DejaVu Sans"/>
              </a:defRPr>
            </a:pPr>
            <a:r>
              <a:rPr sz="2025" b="1">
                <a:solidFill>
                  <a:srgbClr val="102E2A"/>
                </a:solidFill>
                <a:latin typeface="DejaVu Sans"/>
                <a:ea typeface="DejaVu Sans"/>
                <a:cs typeface="DejaVu Sans"/>
              </a:rPr>
              <a:t>Understand the wording</a:t>
            </a:r>
          </a:p>
        </p:txBody>
      </p:sp>
      <p:sp>
        <p:nvSpPr>
          <p:cNvPr id="10" name="">
            <a:extLst xmlns:a="http://schemas.openxmlformats.org/drawingml/2006/main">
              <a:ext uri="{FF2B5EF4-FFF2-40B4-BE49-F238E27FC236}">
                <a16:creationId xmlns:a16="http://schemas.microsoft.com/office/drawing/2014/main" id="{545CD4B8-A79E-447B-BB6B-C764F7E35988}"/>
              </a:ext>
            </a:extLst>
          </p:cNvPr>
          <p:cNvSpPr>
            <a:spLocks xmlns:a="http://schemas.openxmlformats.org/drawingml/2006/main" noGrp="1"/>
          </p:cNvSpPr>
          <p:nvPr/>
        </p:nvSpPr>
        <p:spPr>
          <a:xfrm xmlns:a="http://schemas.openxmlformats.org/drawingml/2006/main">
            <a:off x="5267325" y="2486025"/>
            <a:ext cx="6315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E2A"/>
                </a:solidFill>
                <a:latin typeface="DejaVu Sans"/>
                <a:ea typeface="DejaVu Sans"/>
                <a:cs typeface="DejaVu Sans"/>
              </a:defRPr>
            </a:pPr>
            <a:r>
              <a:rPr sz="1725" b="0">
                <a:solidFill>
                  <a:srgbClr val="102E2A"/>
                </a:solidFill>
                <a:latin typeface="DejaVu Sans"/>
                <a:ea typeface="DejaVu Sans"/>
                <a:cs typeface="DejaVu Sans"/>
              </a:rPr>
              <a:t>Normalize supported terms before search.</a:t>
            </a:r>
          </a:p>
        </p:txBody>
      </p:sp>
      <p:sp>
        <p:nvSpPr>
          <p:cNvPr id="11" name="">
            <a:extLst xmlns:a="http://schemas.openxmlformats.org/drawingml/2006/main">
              <a:ext uri="{FF2B5EF4-FFF2-40B4-BE49-F238E27FC236}">
                <a16:creationId xmlns:a16="http://schemas.microsoft.com/office/drawing/2014/main" id="{FC0DF563-59B2-44C9-AA85-2CDC227C3B0F}"/>
              </a:ext>
            </a:extLst>
          </p:cNvPr>
          <p:cNvSpPr>
            <a:spLocks xmlns:a="http://schemas.openxmlformats.org/drawingml/2006/main" noGrp="1"/>
          </p:cNvSpPr>
          <p:nvPr/>
        </p:nvSpPr>
        <p:spPr>
          <a:xfrm xmlns:a="http://schemas.openxmlformats.org/drawingml/2006/main">
            <a:off x="4362450" y="304800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765C"/>
                </a:solidFill>
                <a:latin typeface="DejaVu Sans"/>
                <a:ea typeface="DejaVu Sans"/>
                <a:cs typeface="DejaVu Sans"/>
              </a:defRPr>
            </a:pPr>
            <a:r>
              <a:rPr sz="2625" b="1">
                <a:solidFill>
                  <a:srgbClr val="16765C"/>
                </a:solidFill>
                <a:latin typeface="DejaVu Sans"/>
                <a:ea typeface="DejaVu Sans"/>
                <a:cs typeface="DejaVu Sans"/>
              </a:rPr>
              <a:t>02</a:t>
            </a:r>
          </a:p>
        </p:txBody>
      </p:sp>
      <p:sp>
        <p:nvSpPr>
          <p:cNvPr id="12" name="">
            <a:extLst xmlns:a="http://schemas.openxmlformats.org/drawingml/2006/main">
              <a:ext uri="{FF2B5EF4-FFF2-40B4-BE49-F238E27FC236}">
                <a16:creationId xmlns:a16="http://schemas.microsoft.com/office/drawing/2014/main" id="{D46452A3-0D8E-4ED4-B8A4-C8379AA41503}"/>
              </a:ext>
            </a:extLst>
          </p:cNvPr>
          <p:cNvSpPr>
            <a:spLocks xmlns:a="http://schemas.openxmlformats.org/drawingml/2006/main" noGrp="1"/>
          </p:cNvSpPr>
          <p:nvPr/>
        </p:nvSpPr>
        <p:spPr>
          <a:xfrm xmlns:a="http://schemas.openxmlformats.org/drawingml/2006/main">
            <a:off x="5267325" y="3048000"/>
            <a:ext cx="6315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2A"/>
                </a:solidFill>
                <a:latin typeface="DejaVu Sans"/>
                <a:ea typeface="DejaVu Sans"/>
                <a:cs typeface="DejaVu Sans"/>
              </a:defRPr>
            </a:pPr>
            <a:r>
              <a:rPr sz="2025" b="1">
                <a:solidFill>
                  <a:srgbClr val="102E2A"/>
                </a:solidFill>
                <a:latin typeface="DejaVu Sans"/>
                <a:ea typeface="DejaVu Sans"/>
                <a:cs typeface="DejaVu Sans"/>
              </a:rPr>
              <a:t>Rank descriptions</a:t>
            </a:r>
          </a:p>
        </p:txBody>
      </p:sp>
      <p:sp>
        <p:nvSpPr>
          <p:cNvPr id="13" name="">
            <a:extLst xmlns:a="http://schemas.openxmlformats.org/drawingml/2006/main">
              <a:ext uri="{FF2B5EF4-FFF2-40B4-BE49-F238E27FC236}">
                <a16:creationId xmlns:a16="http://schemas.microsoft.com/office/drawing/2014/main" id="{5D1DD415-E465-40E4-A3E2-216239F547AE}"/>
              </a:ext>
            </a:extLst>
          </p:cNvPr>
          <p:cNvSpPr>
            <a:spLocks xmlns:a="http://schemas.openxmlformats.org/drawingml/2006/main" noGrp="1"/>
          </p:cNvSpPr>
          <p:nvPr/>
        </p:nvSpPr>
        <p:spPr>
          <a:xfrm xmlns:a="http://schemas.openxmlformats.org/drawingml/2006/main">
            <a:off x="5267325" y="3505200"/>
            <a:ext cx="6315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E2A"/>
                </a:solidFill>
                <a:latin typeface="DejaVu Sans"/>
                <a:ea typeface="DejaVu Sans"/>
                <a:cs typeface="DejaVu Sans"/>
              </a:defRPr>
            </a:pPr>
            <a:r>
              <a:rPr sz="1725" b="0">
                <a:solidFill>
                  <a:srgbClr val="102E2A"/>
                </a:solidFill>
                <a:latin typeface="DejaVu Sans"/>
                <a:ea typeface="DejaVu Sans"/>
                <a:cs typeface="DejaVu Sans"/>
              </a:rPr>
              <a:t>TF-IDF and cosine similarity score inventory.</a:t>
            </a:r>
          </a:p>
        </p:txBody>
      </p:sp>
      <p:sp>
        <p:nvSpPr>
          <p:cNvPr id="14" name="">
            <a:extLst xmlns:a="http://schemas.openxmlformats.org/drawingml/2006/main">
              <a:ext uri="{FF2B5EF4-FFF2-40B4-BE49-F238E27FC236}">
                <a16:creationId xmlns:a16="http://schemas.microsoft.com/office/drawing/2014/main" id="{E79CFB14-6656-4D91-843B-46EB43D20DFD}"/>
              </a:ext>
            </a:extLst>
          </p:cNvPr>
          <p:cNvSpPr>
            <a:spLocks xmlns:a="http://schemas.openxmlformats.org/drawingml/2006/main" noGrp="1"/>
          </p:cNvSpPr>
          <p:nvPr/>
        </p:nvSpPr>
        <p:spPr>
          <a:xfrm xmlns:a="http://schemas.openxmlformats.org/drawingml/2006/main">
            <a:off x="4362450" y="4067175"/>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765C"/>
                </a:solidFill>
                <a:latin typeface="DejaVu Sans"/>
                <a:ea typeface="DejaVu Sans"/>
                <a:cs typeface="DejaVu Sans"/>
              </a:defRPr>
            </a:pPr>
            <a:r>
              <a:rPr sz="2625" b="1">
                <a:solidFill>
                  <a:srgbClr val="16765C"/>
                </a:solidFill>
                <a:latin typeface="DejaVu Sans"/>
                <a:ea typeface="DejaVu Sans"/>
                <a:cs typeface="DejaVu Sans"/>
              </a:rPr>
              <a:t>03</a:t>
            </a:r>
          </a:p>
        </p:txBody>
      </p:sp>
      <p:sp>
        <p:nvSpPr>
          <p:cNvPr id="15" name="">
            <a:extLst xmlns:a="http://schemas.openxmlformats.org/drawingml/2006/main">
              <a:ext uri="{FF2B5EF4-FFF2-40B4-BE49-F238E27FC236}">
                <a16:creationId xmlns:a16="http://schemas.microsoft.com/office/drawing/2014/main" id="{953F1A6F-5954-4602-AAA6-E24706D14836}"/>
              </a:ext>
            </a:extLst>
          </p:cNvPr>
          <p:cNvSpPr>
            <a:spLocks xmlns:a="http://schemas.openxmlformats.org/drawingml/2006/main" noGrp="1"/>
          </p:cNvSpPr>
          <p:nvPr/>
        </p:nvSpPr>
        <p:spPr>
          <a:xfrm xmlns:a="http://schemas.openxmlformats.org/drawingml/2006/main">
            <a:off x="5267325" y="4067175"/>
            <a:ext cx="6315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2A"/>
                </a:solidFill>
                <a:latin typeface="DejaVu Sans"/>
                <a:ea typeface="DejaVu Sans"/>
                <a:cs typeface="DejaVu Sans"/>
              </a:defRPr>
            </a:pPr>
            <a:r>
              <a:rPr sz="2025" b="1">
                <a:solidFill>
                  <a:srgbClr val="102E2A"/>
                </a:solidFill>
                <a:latin typeface="DejaVu Sans"/>
                <a:ea typeface="DejaVu Sans"/>
                <a:cs typeface="DejaVu Sans"/>
              </a:rPr>
              <a:t>Apply practical constraints</a:t>
            </a:r>
          </a:p>
        </p:txBody>
      </p:sp>
      <p:sp>
        <p:nvSpPr>
          <p:cNvPr id="16" name="">
            <a:extLst xmlns:a="http://schemas.openxmlformats.org/drawingml/2006/main">
              <a:ext uri="{FF2B5EF4-FFF2-40B4-BE49-F238E27FC236}">
                <a16:creationId xmlns:a16="http://schemas.microsoft.com/office/drawing/2014/main" id="{0FD3A78A-55AA-4558-9872-8D5F577B5C23}"/>
              </a:ext>
            </a:extLst>
          </p:cNvPr>
          <p:cNvSpPr>
            <a:spLocks xmlns:a="http://schemas.openxmlformats.org/drawingml/2006/main" noGrp="1"/>
          </p:cNvSpPr>
          <p:nvPr/>
        </p:nvSpPr>
        <p:spPr>
          <a:xfrm xmlns:a="http://schemas.openxmlformats.org/drawingml/2006/main">
            <a:off x="5267325" y="4524375"/>
            <a:ext cx="6315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E2A"/>
                </a:solidFill>
                <a:latin typeface="DejaVu Sans"/>
                <a:ea typeface="DejaVu Sans"/>
                <a:cs typeface="DejaVu Sans"/>
              </a:defRPr>
            </a:pPr>
            <a:r>
              <a:rPr sz="1725" b="0">
                <a:solidFill>
                  <a:srgbClr val="102E2A"/>
                </a:solidFill>
                <a:latin typeface="DejaVu Sans"/>
                <a:ea typeface="DejaVu Sans"/>
                <a:cs typeface="DejaVu Sans"/>
              </a:rPr>
              <a:t>Check recipient, distance, stock and repairs.</a:t>
            </a:r>
          </a:p>
        </p:txBody>
      </p:sp>
      <p:sp>
        <p:nvSpPr>
          <p:cNvPr id="17" name="">
            <a:extLst xmlns:a="http://schemas.openxmlformats.org/drawingml/2006/main">
              <a:ext uri="{FF2B5EF4-FFF2-40B4-BE49-F238E27FC236}">
                <a16:creationId xmlns:a16="http://schemas.microsoft.com/office/drawing/2014/main" id="{179E59D7-0F81-4A07-BD1C-321CBB82357C}"/>
              </a:ext>
            </a:extLst>
          </p:cNvPr>
          <p:cNvSpPr>
            <a:spLocks xmlns:a="http://schemas.openxmlformats.org/drawingml/2006/main" noGrp="1"/>
          </p:cNvSpPr>
          <p:nvPr/>
        </p:nvSpPr>
        <p:spPr>
          <a:xfrm xmlns:a="http://schemas.openxmlformats.org/drawingml/2006/main">
            <a:off x="4362450" y="5086350"/>
            <a:ext cx="685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765C"/>
                </a:solidFill>
                <a:latin typeface="DejaVu Sans"/>
                <a:ea typeface="DejaVu Sans"/>
                <a:cs typeface="DejaVu Sans"/>
              </a:defRPr>
            </a:pPr>
            <a:r>
              <a:rPr sz="2625" b="1">
                <a:solidFill>
                  <a:srgbClr val="16765C"/>
                </a:solidFill>
                <a:latin typeface="DejaVu Sans"/>
                <a:ea typeface="DejaVu Sans"/>
                <a:cs typeface="DejaVu Sans"/>
              </a:rPr>
              <a:t>04</a:t>
            </a:r>
          </a:p>
        </p:txBody>
      </p:sp>
      <p:sp>
        <p:nvSpPr>
          <p:cNvPr id="18" name="">
            <a:extLst xmlns:a="http://schemas.openxmlformats.org/drawingml/2006/main">
              <a:ext uri="{FF2B5EF4-FFF2-40B4-BE49-F238E27FC236}">
                <a16:creationId xmlns:a16="http://schemas.microsoft.com/office/drawing/2014/main" id="{0CE40152-48C2-40C6-A41A-8BE89118D65C}"/>
              </a:ext>
            </a:extLst>
          </p:cNvPr>
          <p:cNvSpPr>
            <a:spLocks xmlns:a="http://schemas.openxmlformats.org/drawingml/2006/main" noGrp="1"/>
          </p:cNvSpPr>
          <p:nvPr/>
        </p:nvSpPr>
        <p:spPr>
          <a:xfrm xmlns:a="http://schemas.openxmlformats.org/drawingml/2006/main">
            <a:off x="5267325" y="5086350"/>
            <a:ext cx="6315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E2A"/>
                </a:solidFill>
                <a:latin typeface="DejaVu Sans"/>
                <a:ea typeface="DejaVu Sans"/>
                <a:cs typeface="DejaVu Sans"/>
              </a:defRPr>
            </a:pPr>
            <a:r>
              <a:rPr sz="2025" b="1">
                <a:solidFill>
                  <a:srgbClr val="102E2A"/>
                </a:solidFill>
                <a:latin typeface="DejaVu Sans"/>
                <a:ea typeface="DejaVu Sans"/>
                <a:cs typeface="DejaVu Sans"/>
              </a:rPr>
              <a:t>Explain the recommendation</a:t>
            </a:r>
          </a:p>
        </p:txBody>
      </p:sp>
      <p:sp>
        <p:nvSpPr>
          <p:cNvPr id="19" name="">
            <a:extLst xmlns:a="http://schemas.openxmlformats.org/drawingml/2006/main">
              <a:ext uri="{FF2B5EF4-FFF2-40B4-BE49-F238E27FC236}">
                <a16:creationId xmlns:a16="http://schemas.microsoft.com/office/drawing/2014/main" id="{DD8BB098-993F-4298-B6D0-BD80F4AFF45C}"/>
              </a:ext>
            </a:extLst>
          </p:cNvPr>
          <p:cNvSpPr>
            <a:spLocks xmlns:a="http://schemas.openxmlformats.org/drawingml/2006/main" noGrp="1"/>
          </p:cNvSpPr>
          <p:nvPr/>
        </p:nvSpPr>
        <p:spPr>
          <a:xfrm xmlns:a="http://schemas.openxmlformats.org/drawingml/2006/main">
            <a:off x="5267325" y="5543550"/>
            <a:ext cx="6315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02E2A"/>
                </a:solidFill>
                <a:latin typeface="DejaVu Sans"/>
                <a:ea typeface="DejaVu Sans"/>
                <a:cs typeface="DejaVu Sans"/>
              </a:defRPr>
            </a:pPr>
            <a:r>
              <a:rPr sz="1725" b="0">
                <a:solidFill>
                  <a:srgbClr val="102E2A"/>
                </a:solidFill>
                <a:latin typeface="DejaVu Sans"/>
                <a:ea typeface="DejaVu Sans"/>
                <a:cs typeface="DejaVu Sans"/>
              </a:rPr>
              <a:t>Show matched terms for human review.</a:t>
            </a:r>
          </a:p>
        </p:txBody>
      </p:sp>
    </p:spTree>
    <p:extLst>
      <p:ext uri="{BB962C8B-B14F-4D97-AF65-F5344CB8AC3E}">
        <p14:creationId xmlns:p14="http://schemas.microsoft.com/office/powerpoint/2010/main" val="771386715"/>
      </p:ext>
    </p:extLst>
  </p:cSld>
</p:sld>
</file>

<file path=ppt/slides/slide6.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3CB2BAA-D5D9-4761-9073-9C583B429FE6}"/>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82BFF197-8B8C-4436-9FD1-83445FA70F1E}"/>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RAG grounds answers in reuse guidance</a:t>
            </a:r>
          </a:p>
        </p:txBody>
      </p:sp>
      <p:sp>
        <p:nvSpPr>
          <p:cNvPr id="3" name="">
            <a:extLst xmlns:a="http://schemas.openxmlformats.org/drawingml/2006/main">
              <a:ext uri="{FF2B5EF4-FFF2-40B4-BE49-F238E27FC236}">
                <a16:creationId xmlns:a16="http://schemas.microsoft.com/office/drawing/2014/main" id="{169F04A5-DD07-4357-86B6-D45785ED7786}"/>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E8A0D3CF-3FD3-43F6-9A12-A0D64AAB224F}"/>
              </a:ext>
            </a:extLst>
          </p:cNvPr>
          <p:cNvSpPr>
            <a:spLocks xmlns:a="http://schemas.openxmlformats.org/drawingml/2006/main" noGrp="1"/>
          </p:cNvSpPr>
          <p:nvPr/>
        </p:nvSpPr>
        <p:spPr>
          <a:xfrm xmlns:a="http://schemas.openxmlformats.org/drawingml/2006/main">
            <a:off x="609600" y="2171700"/>
            <a:ext cx="2343150" cy="1000125"/>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A02620-1899-4254-BE8D-6787B0110F2B}"/>
              </a:ext>
            </a:extLst>
          </p:cNvPr>
          <p:cNvSpPr>
            <a:spLocks xmlns:a="http://schemas.openxmlformats.org/drawingml/2006/main" noGrp="1"/>
          </p:cNvSpPr>
          <p:nvPr/>
        </p:nvSpPr>
        <p:spPr>
          <a:xfrm xmlns:a="http://schemas.openxmlformats.org/drawingml/2006/main">
            <a:off x="800100" y="2333625"/>
            <a:ext cx="1962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Question</a:t>
            </a:r>
          </a:p>
        </p:txBody>
      </p:sp>
      <p:sp>
        <p:nvSpPr>
          <p:cNvPr id="6" name="">
            <a:extLst xmlns:a="http://schemas.openxmlformats.org/drawingml/2006/main">
              <a:ext uri="{FF2B5EF4-FFF2-40B4-BE49-F238E27FC236}">
                <a16:creationId xmlns:a16="http://schemas.microsoft.com/office/drawing/2014/main" id="{DD06B526-3810-4CDF-AADF-472E609B2FC0}"/>
              </a:ext>
            </a:extLst>
          </p:cNvPr>
          <p:cNvSpPr>
            <a:spLocks xmlns:a="http://schemas.openxmlformats.org/drawingml/2006/main" noGrp="1"/>
          </p:cNvSpPr>
          <p:nvPr/>
        </p:nvSpPr>
        <p:spPr>
          <a:xfrm xmlns:a="http://schemas.openxmlformats.org/drawingml/2006/main">
            <a:off x="3486150" y="2171700"/>
            <a:ext cx="2343150" cy="1000125"/>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EDAF4F-016B-4C58-A5EA-49B4B3A5F4B8}"/>
              </a:ext>
            </a:extLst>
          </p:cNvPr>
          <p:cNvSpPr>
            <a:spLocks xmlns:a="http://schemas.openxmlformats.org/drawingml/2006/main" noGrp="1"/>
          </p:cNvSpPr>
          <p:nvPr/>
        </p:nvSpPr>
        <p:spPr>
          <a:xfrm xmlns:a="http://schemas.openxmlformats.org/drawingml/2006/main">
            <a:off x="3676650" y="2333625"/>
            <a:ext cx="1962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Retrieve</a:t>
            </a:r>
          </a:p>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excerpts</a:t>
            </a:r>
          </a:p>
        </p:txBody>
      </p:sp>
      <p:sp>
        <p:nvSpPr>
          <p:cNvPr id="8" name="">
            <a:extLst xmlns:a="http://schemas.openxmlformats.org/drawingml/2006/main">
              <a:ext uri="{FF2B5EF4-FFF2-40B4-BE49-F238E27FC236}">
                <a16:creationId xmlns:a16="http://schemas.microsoft.com/office/drawing/2014/main" id="{2FC472B8-919D-423A-AF12-1ED9A9DD21D6}"/>
              </a:ext>
            </a:extLst>
          </p:cNvPr>
          <p:cNvSpPr>
            <a:spLocks xmlns:a="http://schemas.openxmlformats.org/drawingml/2006/main" noGrp="1"/>
          </p:cNvSpPr>
          <p:nvPr/>
        </p:nvSpPr>
        <p:spPr>
          <a:xfrm xmlns:a="http://schemas.openxmlformats.org/drawingml/2006/main">
            <a:off x="6362700" y="2171700"/>
            <a:ext cx="2343150" cy="1000125"/>
          </a:xfrm>
          <a:prstGeom xmlns:a="http://schemas.openxmlformats.org/drawingml/2006/main" prst="rect">
            <a:avLst/>
          </a:prstGeom>
          <a:solidFill xmlns:a="http://schemas.openxmlformats.org/drawingml/2006/main">
            <a:srgbClr val="D1F7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38604C-7B68-4243-BFC3-EC6B1892F721}"/>
              </a:ext>
            </a:extLst>
          </p:cNvPr>
          <p:cNvSpPr>
            <a:spLocks xmlns:a="http://schemas.openxmlformats.org/drawingml/2006/main" noGrp="1"/>
          </p:cNvSpPr>
          <p:nvPr/>
        </p:nvSpPr>
        <p:spPr>
          <a:xfrm xmlns:a="http://schemas.openxmlformats.org/drawingml/2006/main">
            <a:off x="6553200" y="2333625"/>
            <a:ext cx="1962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Local</a:t>
            </a:r>
          </a:p>
          <a:p xmlns:a="http://schemas.openxmlformats.org/drawingml/2006/main">
            <a:pPr>
              <a:defRPr sz="1950" b="1">
                <a:solidFill>
                  <a:srgbClr val="102E2A"/>
                </a:solidFill>
                <a:latin typeface="DejaVu Sans"/>
                <a:ea typeface="DejaVu Sans"/>
                <a:cs typeface="DejaVu Sans"/>
              </a:defRPr>
            </a:pPr>
            <a:r>
              <a:rPr sz="1950" b="1">
                <a:solidFill>
                  <a:srgbClr val="102E2A"/>
                </a:solidFill>
                <a:latin typeface="DejaVu Sans"/>
                <a:ea typeface="DejaVu Sans"/>
                <a:cs typeface="DejaVu Sans"/>
              </a:rPr>
              <a:t>model</a:t>
            </a:r>
          </a:p>
        </p:txBody>
      </p:sp>
      <p:sp>
        <p:nvSpPr>
          <p:cNvPr id="10" name="">
            <a:extLst xmlns:a="http://schemas.openxmlformats.org/drawingml/2006/main">
              <a:ext uri="{FF2B5EF4-FFF2-40B4-BE49-F238E27FC236}">
                <a16:creationId xmlns:a16="http://schemas.microsoft.com/office/drawing/2014/main" id="{97E00146-9348-4082-A645-22C620FC832A}"/>
              </a:ext>
            </a:extLst>
          </p:cNvPr>
          <p:cNvSpPr>
            <a:spLocks xmlns:a="http://schemas.openxmlformats.org/drawingml/2006/main" noGrp="1"/>
          </p:cNvSpPr>
          <p:nvPr/>
        </p:nvSpPr>
        <p:spPr>
          <a:xfrm xmlns:a="http://schemas.openxmlformats.org/drawingml/2006/main">
            <a:off x="9239250" y="2171700"/>
            <a:ext cx="2343150" cy="1000125"/>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9477A1-B491-4C9F-849B-1BF1144A9C81}"/>
              </a:ext>
            </a:extLst>
          </p:cNvPr>
          <p:cNvSpPr>
            <a:spLocks xmlns:a="http://schemas.openxmlformats.org/drawingml/2006/main" noGrp="1"/>
          </p:cNvSpPr>
          <p:nvPr/>
        </p:nvSpPr>
        <p:spPr>
          <a:xfrm xmlns:a="http://schemas.openxmlformats.org/drawingml/2006/main">
            <a:off x="9429750" y="2333625"/>
            <a:ext cx="1962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Check</a:t>
            </a:r>
          </a:p>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citations</a:t>
            </a:r>
          </a:p>
        </p:txBody>
      </p:sp>
      <p:cxnSp>
        <p:nvCxnSpPr>
          <p:cNvPr id="30" name=""/>
          <p:cNvCxnSpPr>
            <a:stCxn xmlns:a="http://schemas.openxmlformats.org/drawingml/2006/main" id="4" idx="3"/>
            <a:endCxn xmlns:a="http://schemas.openxmlformats.org/drawingml/2006/main" id="6" idx="1"/>
          </p:cNvCxnSpPr>
          <p:nvPr/>
        </p:nvCxnSpPr>
        <p:spPr>
          <a:xfrm xmlns:a="http://schemas.openxmlformats.org/drawingml/2006/main">
            <a:off x="2952750" y="2671763"/>
            <a:ext cx="533400" cy="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1" name=""/>
          <p:cNvCxnSpPr>
            <a:stCxn xmlns:a="http://schemas.openxmlformats.org/drawingml/2006/main" id="6" idx="3"/>
            <a:endCxn xmlns:a="http://schemas.openxmlformats.org/drawingml/2006/main" id="8" idx="1"/>
          </p:cNvCxnSpPr>
          <p:nvPr/>
        </p:nvCxnSpPr>
        <p:spPr>
          <a:xfrm xmlns:a="http://schemas.openxmlformats.org/drawingml/2006/main">
            <a:off x="5829300" y="2671763"/>
            <a:ext cx="533400" cy="0"/>
          </a:xfrm>
          <a:prstGeom xmlns:a="http://schemas.openxmlformats.org/drawingml/2006/main" prst="straightConnector1">
            <a:avLst/>
          </a:prstGeom>
          <a:ln xmlns:a="http://schemas.openxmlformats.org/drawingml/2006/main" w="28575">
            <a:solidFill>
              <a:srgbClr val="16765C"/>
            </a:solidFill>
            <a:tailEnd type="arrow" w="med" len="med"/>
          </a:ln>
        </p:spPr>
      </p:cxnSp>
      <p:cxnSp>
        <p:nvCxnSpPr>
          <p:cNvPr id="32" name=""/>
          <p:cNvCxnSpPr>
            <a:stCxn xmlns:a="http://schemas.openxmlformats.org/drawingml/2006/main" id="8" idx="3"/>
            <a:endCxn xmlns:a="http://schemas.openxmlformats.org/drawingml/2006/main" id="10" idx="1"/>
          </p:cNvCxnSpPr>
          <p:nvPr/>
        </p:nvCxnSpPr>
        <p:spPr>
          <a:xfrm xmlns:a="http://schemas.openxmlformats.org/drawingml/2006/main">
            <a:off x="8705850" y="2671763"/>
            <a:ext cx="533400" cy="0"/>
          </a:xfrm>
          <a:prstGeom xmlns:a="http://schemas.openxmlformats.org/drawingml/2006/main" prst="straightConnector1">
            <a:avLst/>
          </a:prstGeom>
          <a:ln xmlns:a="http://schemas.openxmlformats.org/drawingml/2006/main" w="28575">
            <a:solidFill>
              <a:srgbClr val="16765C"/>
            </a:solidFill>
            <a:tailEnd type="arrow" w="med" len="med"/>
          </a:ln>
        </p:spPr>
      </p:cxnSp>
      <p:sp>
        <p:nvSpPr>
          <p:cNvPr id="15" name="">
            <a:extLst xmlns:a="http://schemas.openxmlformats.org/drawingml/2006/main">
              <a:ext uri="{FF2B5EF4-FFF2-40B4-BE49-F238E27FC236}">
                <a16:creationId xmlns:a16="http://schemas.microsoft.com/office/drawing/2014/main" id="{1BDE9B34-E01C-4479-8B02-079B1882CD77}"/>
              </a:ext>
            </a:extLst>
          </p:cNvPr>
          <p:cNvSpPr>
            <a:spLocks xmlns:a="http://schemas.openxmlformats.org/drawingml/2006/main" noGrp="1"/>
          </p:cNvSpPr>
          <p:nvPr/>
        </p:nvSpPr>
        <p:spPr>
          <a:xfrm xmlns:a="http://schemas.openxmlformats.org/drawingml/2006/main">
            <a:off x="609600" y="36957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765C"/>
                </a:solidFill>
                <a:latin typeface="DejaVu Sans"/>
                <a:ea typeface="DejaVu Sans"/>
                <a:cs typeface="DejaVu Sans"/>
              </a:defRPr>
            </a:pPr>
            <a:r>
              <a:rPr sz="2325" b="1">
                <a:solidFill>
                  <a:srgbClr val="16765C"/>
                </a:solidFill>
                <a:latin typeface="DejaVu Sans"/>
                <a:ea typeface="DejaVu Sans"/>
                <a:cs typeface="DejaVu Sans"/>
              </a:rPr>
              <a:t>Knowledge base</a:t>
            </a:r>
          </a:p>
        </p:txBody>
      </p:sp>
      <p:sp>
        <p:nvSpPr>
          <p:cNvPr id="16" name="">
            <a:extLst xmlns:a="http://schemas.openxmlformats.org/drawingml/2006/main">
              <a:ext uri="{FF2B5EF4-FFF2-40B4-BE49-F238E27FC236}">
                <a16:creationId xmlns:a16="http://schemas.microsoft.com/office/drawing/2014/main" id="{4D5599B2-7731-463D-BBA6-33A4DE8C0C09}"/>
              </a:ext>
            </a:extLst>
          </p:cNvPr>
          <p:cNvSpPr>
            <a:spLocks xmlns:a="http://schemas.openxmlformats.org/drawingml/2006/main" noGrp="1"/>
          </p:cNvSpPr>
          <p:nvPr/>
        </p:nvSpPr>
        <p:spPr>
          <a:xfrm xmlns:a="http://schemas.openxmlformats.org/drawingml/2006/main">
            <a:off x="609600" y="4314825"/>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Project-authored rules, impact methods</a:t>
            </a:r>
          </a:p>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and responsible AI guidance.</a:t>
            </a:r>
          </a:p>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Heading chunks + TF-IDF retrieval.</a:t>
            </a:r>
          </a:p>
        </p:txBody>
      </p:sp>
      <p:sp>
        <p:nvSpPr>
          <p:cNvPr id="17" name="">
            <a:extLst xmlns:a="http://schemas.openxmlformats.org/drawingml/2006/main">
              <a:ext uri="{FF2B5EF4-FFF2-40B4-BE49-F238E27FC236}">
                <a16:creationId xmlns:a16="http://schemas.microsoft.com/office/drawing/2014/main" id="{96AC0240-8192-4B79-A66A-C9E6E87F878C}"/>
              </a:ext>
            </a:extLst>
          </p:cNvPr>
          <p:cNvSpPr>
            <a:spLocks xmlns:a="http://schemas.openxmlformats.org/drawingml/2006/main" noGrp="1"/>
          </p:cNvSpPr>
          <p:nvPr/>
        </p:nvSpPr>
        <p:spPr>
          <a:xfrm xmlns:a="http://schemas.openxmlformats.org/drawingml/2006/main">
            <a:off x="6515100" y="3695700"/>
            <a:ext cx="5067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765C"/>
                </a:solidFill>
                <a:latin typeface="DejaVu Sans"/>
                <a:ea typeface="DejaVu Sans"/>
                <a:cs typeface="DejaVu Sans"/>
              </a:defRPr>
            </a:pPr>
            <a:r>
              <a:rPr sz="2325" b="1">
                <a:solidFill>
                  <a:srgbClr val="16765C"/>
                </a:solidFill>
                <a:latin typeface="DejaVu Sans"/>
                <a:ea typeface="DejaVu Sans"/>
                <a:cs typeface="DejaVu Sans"/>
              </a:rPr>
              <a:t>Answer with evidence</a:t>
            </a:r>
          </a:p>
        </p:txBody>
      </p:sp>
      <p:sp>
        <p:nvSpPr>
          <p:cNvPr id="18" name="">
            <a:extLst xmlns:a="http://schemas.openxmlformats.org/drawingml/2006/main">
              <a:ext uri="{FF2B5EF4-FFF2-40B4-BE49-F238E27FC236}">
                <a16:creationId xmlns:a16="http://schemas.microsoft.com/office/drawing/2014/main" id="{F01C2B0B-9B3D-47DD-93E8-333074DE4C9D}"/>
              </a:ext>
            </a:extLst>
          </p:cNvPr>
          <p:cNvSpPr>
            <a:spLocks xmlns:a="http://schemas.openxmlformats.org/drawingml/2006/main" noGrp="1"/>
          </p:cNvSpPr>
          <p:nvPr/>
        </p:nvSpPr>
        <p:spPr>
          <a:xfrm xmlns:a="http://schemas.openxmlformats.org/drawingml/2006/main">
            <a:off x="6515100" y="4314825"/>
            <a:ext cx="50673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Generated claims include source IDs.</a:t>
            </a:r>
          </a:p>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Missing evidence triggers abstention.</a:t>
            </a:r>
          </a:p>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A person checks what the excerpts support.</a:t>
            </a:r>
          </a:p>
        </p:txBody>
      </p:sp>
    </p:spTree>
    <p:extLst>
      <p:ext uri="{BB962C8B-B14F-4D97-AF65-F5344CB8AC3E}">
        <p14:creationId xmlns:p14="http://schemas.microsoft.com/office/powerpoint/2010/main" val="813679513"/>
      </p:ext>
    </p:extLst>
  </p:cSld>
</p:sld>
</file>

<file path=ppt/slides/slide7.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C7A3614-B632-4E5D-9334-5EDDE9EAA9C7}"/>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B25B9970-7ABB-4040-9433-3E04EB3D7D17}"/>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The agent chooses tools within fixed limits</a:t>
            </a:r>
          </a:p>
        </p:txBody>
      </p:sp>
      <p:sp>
        <p:nvSpPr>
          <p:cNvPr id="3" name="">
            <a:extLst xmlns:a="http://schemas.openxmlformats.org/drawingml/2006/main">
              <a:ext uri="{FF2B5EF4-FFF2-40B4-BE49-F238E27FC236}">
                <a16:creationId xmlns:a16="http://schemas.microsoft.com/office/drawing/2014/main" id="{B3827BE8-D2F7-4F21-BDE6-9C8965D911BF}"/>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07</a:t>
            </a:r>
          </a:p>
        </p:txBody>
      </p:sp>
      <p:sp>
        <p:nvSpPr>
          <p:cNvPr id="4" name="">
            <a:extLst xmlns:a="http://schemas.openxmlformats.org/drawingml/2006/main">
              <a:ext uri="{FF2B5EF4-FFF2-40B4-BE49-F238E27FC236}">
                <a16:creationId xmlns:a16="http://schemas.microsoft.com/office/drawing/2014/main" id="{68E1603D-4577-44F1-A4C3-FC95A1BB145E}"/>
              </a:ext>
            </a:extLst>
          </p:cNvPr>
          <p:cNvSpPr>
            <a:spLocks xmlns:a="http://schemas.openxmlformats.org/drawingml/2006/main" noGrp="1"/>
          </p:cNvSpPr>
          <p:nvPr/>
        </p:nvSpPr>
        <p:spPr>
          <a:xfrm xmlns:a="http://schemas.openxmlformats.org/drawingml/2006/main">
            <a:off x="609600" y="2076450"/>
            <a:ext cx="3752850" cy="3743325"/>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F39005-FFD2-4C65-87C4-1646076A7D19}"/>
              </a:ext>
            </a:extLst>
          </p:cNvPr>
          <p:cNvSpPr>
            <a:spLocks xmlns:a="http://schemas.openxmlformats.org/drawingml/2006/main" noGrp="1"/>
          </p:cNvSpPr>
          <p:nvPr/>
        </p:nvSpPr>
        <p:spPr>
          <a:xfrm xmlns:a="http://schemas.openxmlformats.org/drawingml/2006/main">
            <a:off x="838200" y="2324100"/>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F791"/>
                </a:solidFill>
                <a:latin typeface="DejaVu Sans"/>
                <a:ea typeface="DejaVu Sans"/>
                <a:cs typeface="DejaVu Sans"/>
              </a:defRPr>
            </a:pPr>
            <a:r>
              <a:rPr sz="1500" b="1">
                <a:solidFill>
                  <a:srgbClr val="D1F791"/>
                </a:solidFill>
                <a:latin typeface="DejaVu Sans"/>
                <a:ea typeface="DejaVu Sans"/>
                <a:cs typeface="DejaVu Sans"/>
              </a:rPr>
              <a:t>MODEL PLANNER</a:t>
            </a:r>
          </a:p>
        </p:txBody>
      </p:sp>
      <p:sp>
        <p:nvSpPr>
          <p:cNvPr id="6" name="">
            <a:extLst xmlns:a="http://schemas.openxmlformats.org/drawingml/2006/main">
              <a:ext uri="{FF2B5EF4-FFF2-40B4-BE49-F238E27FC236}">
                <a16:creationId xmlns:a16="http://schemas.microsoft.com/office/drawing/2014/main" id="{9BC47EEC-34C8-4E0E-9357-A390CCB36389}"/>
              </a:ext>
            </a:extLst>
          </p:cNvPr>
          <p:cNvSpPr>
            <a:spLocks xmlns:a="http://schemas.openxmlformats.org/drawingml/2006/main" noGrp="1"/>
          </p:cNvSpPr>
          <p:nvPr/>
        </p:nvSpPr>
        <p:spPr>
          <a:xfrm xmlns:a="http://schemas.openxmlformats.org/drawingml/2006/main">
            <a:off x="838200" y="3019425"/>
            <a:ext cx="32956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Select a tool.</a:t>
            </a:r>
          </a:p>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Observe its result.</a:t>
            </a:r>
          </a:p>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Choose the next step.</a:t>
            </a:r>
          </a:p>
        </p:txBody>
      </p:sp>
      <p:sp>
        <p:nvSpPr>
          <p:cNvPr id="7" name="">
            <a:extLst xmlns:a="http://schemas.openxmlformats.org/drawingml/2006/main">
              <a:ext uri="{FF2B5EF4-FFF2-40B4-BE49-F238E27FC236}">
                <a16:creationId xmlns:a16="http://schemas.microsoft.com/office/drawing/2014/main" id="{ECFFDB1B-3287-4E07-A9A8-104130B0A835}"/>
              </a:ext>
            </a:extLst>
          </p:cNvPr>
          <p:cNvSpPr>
            <a:spLocks xmlns:a="http://schemas.openxmlformats.org/drawingml/2006/main" noGrp="1"/>
          </p:cNvSpPr>
          <p:nvPr/>
        </p:nvSpPr>
        <p:spPr>
          <a:xfrm xmlns:a="http://schemas.openxmlformats.org/drawingml/2006/main">
            <a:off x="838200" y="5219700"/>
            <a:ext cx="329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Up to 6 turns / 8 calls</a:t>
            </a:r>
          </a:p>
        </p:txBody>
      </p:sp>
      <p:sp>
        <p:nvSpPr>
          <p:cNvPr id="8" name="">
            <a:extLst xmlns:a="http://schemas.openxmlformats.org/drawingml/2006/main">
              <a:ext uri="{FF2B5EF4-FFF2-40B4-BE49-F238E27FC236}">
                <a16:creationId xmlns:a16="http://schemas.microsoft.com/office/drawing/2014/main" id="{50C28747-DFC9-4EE9-AA29-1B3BE24ABFB6}"/>
              </a:ext>
            </a:extLst>
          </p:cNvPr>
          <p:cNvSpPr>
            <a:spLocks xmlns:a="http://schemas.openxmlformats.org/drawingml/2006/main" noGrp="1"/>
          </p:cNvSpPr>
          <p:nvPr/>
        </p:nvSpPr>
        <p:spPr>
          <a:xfrm xmlns:a="http://schemas.openxmlformats.org/drawingml/2006/main">
            <a:off x="4895850" y="20859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65C"/>
                </a:solidFill>
                <a:latin typeface="DejaVu Sans"/>
                <a:ea typeface="DejaVu Sans"/>
                <a:cs typeface="DejaVu Sans"/>
              </a:defRPr>
            </a:pPr>
            <a:r>
              <a:rPr sz="2700" b="1">
                <a:solidFill>
                  <a:srgbClr val="16765C"/>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9BB59D27-F5A6-4E8C-B595-5DED2E47C079}"/>
              </a:ext>
            </a:extLst>
          </p:cNvPr>
          <p:cNvSpPr>
            <a:spLocks xmlns:a="http://schemas.openxmlformats.org/drawingml/2006/main" noGrp="1"/>
          </p:cNvSpPr>
          <p:nvPr/>
        </p:nvSpPr>
        <p:spPr>
          <a:xfrm xmlns:a="http://schemas.openxmlformats.org/drawingml/2006/main">
            <a:off x="5848350" y="2085975"/>
            <a:ext cx="5734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2A"/>
                </a:solidFill>
                <a:latin typeface="DejaVu Sans"/>
                <a:ea typeface="DejaVu Sans"/>
                <a:cs typeface="DejaVu Sans"/>
              </a:defRPr>
            </a:pPr>
            <a:r>
              <a:rPr sz="2175" b="1">
                <a:solidFill>
                  <a:srgbClr val="102E2A"/>
                </a:solidFill>
                <a:latin typeface="DejaVu Sans"/>
                <a:ea typeface="DejaVu Sans"/>
                <a:cs typeface="DejaVu Sans"/>
              </a:rPr>
              <a:t>Search inventory</a:t>
            </a:r>
          </a:p>
        </p:txBody>
      </p:sp>
      <p:sp>
        <p:nvSpPr>
          <p:cNvPr id="10" name="">
            <a:extLst xmlns:a="http://schemas.openxmlformats.org/drawingml/2006/main">
              <a:ext uri="{FF2B5EF4-FFF2-40B4-BE49-F238E27FC236}">
                <a16:creationId xmlns:a16="http://schemas.microsoft.com/office/drawing/2014/main" id="{839D50A2-FBF2-46AC-A770-B6E2C6333818}"/>
              </a:ext>
            </a:extLst>
          </p:cNvPr>
          <p:cNvSpPr>
            <a:spLocks xmlns:a="http://schemas.openxmlformats.org/drawingml/2006/main" noGrp="1"/>
          </p:cNvSpPr>
          <p:nvPr/>
        </p:nvSpPr>
        <p:spPr>
          <a:xfrm xmlns:a="http://schemas.openxmlformats.org/drawingml/2006/main">
            <a:off x="5848350" y="2581275"/>
            <a:ext cx="573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Use the user’s fixed recipient and constraints.</a:t>
            </a:r>
          </a:p>
        </p:txBody>
      </p:sp>
      <p:sp>
        <p:nvSpPr>
          <p:cNvPr id="11" name="">
            <a:extLst xmlns:a="http://schemas.openxmlformats.org/drawingml/2006/main">
              <a:ext uri="{FF2B5EF4-FFF2-40B4-BE49-F238E27FC236}">
                <a16:creationId xmlns:a16="http://schemas.microsoft.com/office/drawing/2014/main" id="{5E085419-5C26-4039-A2E7-88B88F75A52E}"/>
              </a:ext>
            </a:extLst>
          </p:cNvPr>
          <p:cNvSpPr>
            <a:spLocks xmlns:a="http://schemas.openxmlformats.org/drawingml/2006/main" noGrp="1"/>
          </p:cNvSpPr>
          <p:nvPr/>
        </p:nvSpPr>
        <p:spPr>
          <a:xfrm xmlns:a="http://schemas.openxmlformats.org/drawingml/2006/main">
            <a:off x="4895850" y="3143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65C"/>
                </a:solidFill>
                <a:latin typeface="DejaVu Sans"/>
                <a:ea typeface="DejaVu Sans"/>
                <a:cs typeface="DejaVu Sans"/>
              </a:defRPr>
            </a:pPr>
            <a:r>
              <a:rPr sz="2700" b="1">
                <a:solidFill>
                  <a:srgbClr val="16765C"/>
                </a:solidFill>
                <a:latin typeface="DejaVu Sans"/>
                <a:ea typeface="DejaVu Sans"/>
                <a:cs typeface="DejaVu Sans"/>
              </a:rPr>
              <a:t>02</a:t>
            </a:r>
          </a:p>
        </p:txBody>
      </p:sp>
      <p:sp>
        <p:nvSpPr>
          <p:cNvPr id="12" name="">
            <a:extLst xmlns:a="http://schemas.openxmlformats.org/drawingml/2006/main">
              <a:ext uri="{FF2B5EF4-FFF2-40B4-BE49-F238E27FC236}">
                <a16:creationId xmlns:a16="http://schemas.microsoft.com/office/drawing/2014/main" id="{A58F10E3-2D82-4D98-8B3B-7DCFCCDCD30E}"/>
              </a:ext>
            </a:extLst>
          </p:cNvPr>
          <p:cNvSpPr>
            <a:spLocks xmlns:a="http://schemas.openxmlformats.org/drawingml/2006/main" noGrp="1"/>
          </p:cNvSpPr>
          <p:nvPr/>
        </p:nvSpPr>
        <p:spPr>
          <a:xfrm xmlns:a="http://schemas.openxmlformats.org/drawingml/2006/main">
            <a:off x="5848350" y="3143250"/>
            <a:ext cx="5734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2A"/>
                </a:solidFill>
                <a:latin typeface="DejaVu Sans"/>
                <a:ea typeface="DejaVu Sans"/>
                <a:cs typeface="DejaVu Sans"/>
              </a:defRPr>
            </a:pPr>
            <a:r>
              <a:rPr sz="2175" b="1">
                <a:solidFill>
                  <a:srgbClr val="102E2A"/>
                </a:solidFill>
                <a:latin typeface="DejaVu Sans"/>
                <a:ea typeface="DejaVu Sans"/>
                <a:cs typeface="DejaVu Sans"/>
              </a:rPr>
              <a:t>Retrieve guidance</a:t>
            </a:r>
          </a:p>
        </p:txBody>
      </p:sp>
      <p:sp>
        <p:nvSpPr>
          <p:cNvPr id="13" name="">
            <a:extLst xmlns:a="http://schemas.openxmlformats.org/drawingml/2006/main">
              <a:ext uri="{FF2B5EF4-FFF2-40B4-BE49-F238E27FC236}">
                <a16:creationId xmlns:a16="http://schemas.microsoft.com/office/drawing/2014/main" id="{F4E069D8-EBFE-4BF8-A7AA-E52B4DEC7BF8}"/>
              </a:ext>
            </a:extLst>
          </p:cNvPr>
          <p:cNvSpPr>
            <a:spLocks xmlns:a="http://schemas.openxmlformats.org/drawingml/2006/main" noGrp="1"/>
          </p:cNvSpPr>
          <p:nvPr/>
        </p:nvSpPr>
        <p:spPr>
          <a:xfrm xmlns:a="http://schemas.openxmlformats.org/drawingml/2006/main">
            <a:off x="5848350" y="3638550"/>
            <a:ext cx="573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Bring inspection and reuse rules into the plan.</a:t>
            </a:r>
          </a:p>
        </p:txBody>
      </p:sp>
      <p:sp>
        <p:nvSpPr>
          <p:cNvPr id="14" name="">
            <a:extLst xmlns:a="http://schemas.openxmlformats.org/drawingml/2006/main">
              <a:ext uri="{FF2B5EF4-FFF2-40B4-BE49-F238E27FC236}">
                <a16:creationId xmlns:a16="http://schemas.microsoft.com/office/drawing/2014/main" id="{A4575869-5000-49DA-9DCC-87D93C9F1488}"/>
              </a:ext>
            </a:extLst>
          </p:cNvPr>
          <p:cNvSpPr>
            <a:spLocks xmlns:a="http://schemas.openxmlformats.org/drawingml/2006/main" noGrp="1"/>
          </p:cNvSpPr>
          <p:nvPr/>
        </p:nvSpPr>
        <p:spPr>
          <a:xfrm xmlns:a="http://schemas.openxmlformats.org/drawingml/2006/main">
            <a:off x="4895850" y="42005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65C"/>
                </a:solidFill>
                <a:latin typeface="DejaVu Sans"/>
                <a:ea typeface="DejaVu Sans"/>
                <a:cs typeface="DejaVu Sans"/>
              </a:defRPr>
            </a:pPr>
            <a:r>
              <a:rPr sz="2700" b="1">
                <a:solidFill>
                  <a:srgbClr val="16765C"/>
                </a:solidFill>
                <a:latin typeface="DejaVu Sans"/>
                <a:ea typeface="DejaVu Sans"/>
                <a:cs typeface="DejaVu Sans"/>
              </a:rPr>
              <a:t>03</a:t>
            </a:r>
          </a:p>
        </p:txBody>
      </p:sp>
      <p:sp>
        <p:nvSpPr>
          <p:cNvPr id="15" name="">
            <a:extLst xmlns:a="http://schemas.openxmlformats.org/drawingml/2006/main">
              <a:ext uri="{FF2B5EF4-FFF2-40B4-BE49-F238E27FC236}">
                <a16:creationId xmlns:a16="http://schemas.microsoft.com/office/drawing/2014/main" id="{FC7283A2-CA20-424C-B5FC-EFB8F99DA520}"/>
              </a:ext>
            </a:extLst>
          </p:cNvPr>
          <p:cNvSpPr>
            <a:spLocks xmlns:a="http://schemas.openxmlformats.org/drawingml/2006/main" noGrp="1"/>
          </p:cNvSpPr>
          <p:nvPr/>
        </p:nvSpPr>
        <p:spPr>
          <a:xfrm xmlns:a="http://schemas.openxmlformats.org/drawingml/2006/main">
            <a:off x="5848350" y="4200525"/>
            <a:ext cx="5734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2A"/>
                </a:solidFill>
                <a:latin typeface="DejaVu Sans"/>
                <a:ea typeface="DejaVu Sans"/>
                <a:cs typeface="DejaVu Sans"/>
              </a:defRPr>
            </a:pPr>
            <a:r>
              <a:rPr sz="2175" b="1">
                <a:solidFill>
                  <a:srgbClr val="102E2A"/>
                </a:solidFill>
                <a:latin typeface="DejaVu Sans"/>
                <a:ea typeface="DejaVu Sans"/>
                <a:cs typeface="DejaVu Sans"/>
              </a:rPr>
              <a:t>Estimate reuse</a:t>
            </a:r>
          </a:p>
        </p:txBody>
      </p:sp>
      <p:sp>
        <p:nvSpPr>
          <p:cNvPr id="16" name="">
            <a:extLst xmlns:a="http://schemas.openxmlformats.org/drawingml/2006/main">
              <a:ext uri="{FF2B5EF4-FFF2-40B4-BE49-F238E27FC236}">
                <a16:creationId xmlns:a16="http://schemas.microsoft.com/office/drawing/2014/main" id="{502F47A7-CEA5-4C7D-94E5-BDF838DCDEF4}"/>
              </a:ext>
            </a:extLst>
          </p:cNvPr>
          <p:cNvSpPr>
            <a:spLocks xmlns:a="http://schemas.openxmlformats.org/drawingml/2006/main" noGrp="1"/>
          </p:cNvSpPr>
          <p:nvPr/>
        </p:nvSpPr>
        <p:spPr>
          <a:xfrm xmlns:a="http://schemas.openxmlformats.org/drawingml/2006/main">
            <a:off x="5848350" y="4695825"/>
            <a:ext cx="573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Calculate a draft from eligible, observed stock.</a:t>
            </a:r>
          </a:p>
        </p:txBody>
      </p:sp>
      <p:sp>
        <p:nvSpPr>
          <p:cNvPr id="17" name="">
            <a:extLst xmlns:a="http://schemas.openxmlformats.org/drawingml/2006/main">
              <a:ext uri="{FF2B5EF4-FFF2-40B4-BE49-F238E27FC236}">
                <a16:creationId xmlns:a16="http://schemas.microsoft.com/office/drawing/2014/main" id="{D9BBFCA3-E510-4EC5-B2BF-DABA43B6C8A3}"/>
              </a:ext>
            </a:extLst>
          </p:cNvPr>
          <p:cNvSpPr>
            <a:spLocks xmlns:a="http://schemas.openxmlformats.org/drawingml/2006/main" noGrp="1"/>
          </p:cNvSpPr>
          <p:nvPr/>
        </p:nvSpPr>
        <p:spPr>
          <a:xfrm xmlns:a="http://schemas.openxmlformats.org/drawingml/2006/main">
            <a:off x="4895850" y="5505450"/>
            <a:ext cx="6686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65C"/>
                </a:solidFill>
                <a:latin typeface="DejaVu Sans"/>
                <a:ea typeface="DejaVu Sans"/>
                <a:cs typeface="DejaVu Sans"/>
              </a:defRPr>
            </a:pPr>
            <a:r>
              <a:rPr sz="2025" b="1">
                <a:solidFill>
                  <a:srgbClr val="16765C"/>
                </a:solidFill>
                <a:latin typeface="DejaVu Sans"/>
                <a:ea typeface="DejaVu Sans"/>
                <a:cs typeface="DejaVu Sans"/>
              </a:rPr>
              <a:t>No transfer tool. The user must inspect and confirm.</a:t>
            </a:r>
          </a:p>
        </p:txBody>
      </p:sp>
    </p:spTree>
    <p:extLst>
      <p:ext uri="{BB962C8B-B14F-4D97-AF65-F5344CB8AC3E}">
        <p14:creationId xmlns:p14="http://schemas.microsoft.com/office/powerpoint/2010/main" val="1148905907"/>
      </p:ext>
    </p:extLst>
  </p:cSld>
</p:sld>
</file>

<file path=ppt/slides/slide8.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D63358-0FC9-445B-8603-78CF7180F21B}"/>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8FE876A7-7BD3-460C-8605-A4FF299BB5ED}"/>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Two modes, clearly labelled</a:t>
            </a:r>
          </a:p>
        </p:txBody>
      </p:sp>
      <p:sp>
        <p:nvSpPr>
          <p:cNvPr id="3" name="">
            <a:extLst xmlns:a="http://schemas.openxmlformats.org/drawingml/2006/main">
              <a:ext uri="{FF2B5EF4-FFF2-40B4-BE49-F238E27FC236}">
                <a16:creationId xmlns:a16="http://schemas.microsoft.com/office/drawing/2014/main" id="{6E89C24C-DF54-4603-A3D5-8A7D76B811DE}"/>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4D215528-7677-40B1-848B-0DC5504ADD9B}"/>
              </a:ext>
            </a:extLst>
          </p:cNvPr>
          <p:cNvSpPr>
            <a:spLocks xmlns:a="http://schemas.openxmlformats.org/drawingml/2006/main" noGrp="1"/>
          </p:cNvSpPr>
          <p:nvPr/>
        </p:nvSpPr>
        <p:spPr>
          <a:xfrm xmlns:a="http://schemas.openxmlformats.org/drawingml/2006/main">
            <a:off x="609600" y="2076450"/>
            <a:ext cx="5248275" cy="352425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04CCD2F-8581-4ABE-AC4C-7E5A967C0D71}"/>
              </a:ext>
            </a:extLst>
          </p:cNvPr>
          <p:cNvSpPr>
            <a:spLocks xmlns:a="http://schemas.openxmlformats.org/drawingml/2006/main" noGrp="1"/>
          </p:cNvSpPr>
          <p:nvPr/>
        </p:nvSpPr>
        <p:spPr>
          <a:xfrm xmlns:a="http://schemas.openxmlformats.org/drawingml/2006/main">
            <a:off x="857250" y="2314575"/>
            <a:ext cx="4752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F791"/>
                </a:solidFill>
                <a:latin typeface="DejaVu Sans"/>
                <a:ea typeface="DejaVu Sans"/>
                <a:cs typeface="DejaVu Sans"/>
              </a:defRPr>
            </a:pPr>
            <a:r>
              <a:rPr sz="1500" b="1">
                <a:solidFill>
                  <a:srgbClr val="D1F791"/>
                </a:solidFill>
                <a:latin typeface="DejaVu Sans"/>
                <a:ea typeface="DejaVu Sans"/>
                <a:cs typeface="DejaVu Sans"/>
              </a:rPr>
              <a:t>OLLAMA MODE</a:t>
            </a:r>
          </a:p>
        </p:txBody>
      </p:sp>
      <p:sp>
        <p:nvSpPr>
          <p:cNvPr id="6" name="">
            <a:extLst xmlns:a="http://schemas.openxmlformats.org/drawingml/2006/main">
              <a:ext uri="{FF2B5EF4-FFF2-40B4-BE49-F238E27FC236}">
                <a16:creationId xmlns:a16="http://schemas.microsoft.com/office/drawing/2014/main" id="{A2D7F66F-EAE6-4CC1-98EE-CDDA806EA6E4}"/>
              </a:ext>
            </a:extLst>
          </p:cNvPr>
          <p:cNvSpPr>
            <a:spLocks xmlns:a="http://schemas.openxmlformats.org/drawingml/2006/main" noGrp="1"/>
          </p:cNvSpPr>
          <p:nvPr/>
        </p:nvSpPr>
        <p:spPr>
          <a:xfrm xmlns:a="http://schemas.openxmlformats.org/drawingml/2006/main">
            <a:off x="857250" y="2952750"/>
            <a:ext cx="47529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Generative RAG</a:t>
            </a:r>
          </a:p>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Model-selected tools</a:t>
            </a:r>
          </a:p>
        </p:txBody>
      </p:sp>
      <p:sp>
        <p:nvSpPr>
          <p:cNvPr id="7" name="">
            <a:extLst xmlns:a="http://schemas.openxmlformats.org/drawingml/2006/main">
              <a:ext uri="{FF2B5EF4-FFF2-40B4-BE49-F238E27FC236}">
                <a16:creationId xmlns:a16="http://schemas.microsoft.com/office/drawing/2014/main" id="{6D98A02D-66D4-4AA8-8FDE-70DCF2CE3047}"/>
              </a:ext>
            </a:extLst>
          </p:cNvPr>
          <p:cNvSpPr>
            <a:spLocks xmlns:a="http://schemas.openxmlformats.org/drawingml/2006/main" noGrp="1"/>
          </p:cNvSpPr>
          <p:nvPr/>
        </p:nvSpPr>
        <p:spPr>
          <a:xfrm xmlns:a="http://schemas.openxmlformats.org/drawingml/2006/main">
            <a:off x="857250" y="4552950"/>
            <a:ext cx="47529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Requires Ollama and a local model.</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Questions and context stay on-device.</a:t>
            </a:r>
          </a:p>
        </p:txBody>
      </p:sp>
      <p:sp>
        <p:nvSpPr>
          <p:cNvPr id="8" name="">
            <a:extLst xmlns:a="http://schemas.openxmlformats.org/drawingml/2006/main">
              <a:ext uri="{FF2B5EF4-FFF2-40B4-BE49-F238E27FC236}">
                <a16:creationId xmlns:a16="http://schemas.microsoft.com/office/drawing/2014/main" id="{DF0ACA2C-5A1C-4B2D-A73A-23B8D1441CAE}"/>
              </a:ext>
            </a:extLst>
          </p:cNvPr>
          <p:cNvSpPr>
            <a:spLocks xmlns:a="http://schemas.openxmlformats.org/drawingml/2006/main" noGrp="1"/>
          </p:cNvSpPr>
          <p:nvPr/>
        </p:nvSpPr>
        <p:spPr>
          <a:xfrm xmlns:a="http://schemas.openxmlformats.org/drawingml/2006/main">
            <a:off x="6524625" y="23145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65C"/>
                </a:solidFill>
                <a:latin typeface="DejaVu Sans"/>
                <a:ea typeface="DejaVu Sans"/>
                <a:cs typeface="DejaVu Sans"/>
              </a:defRPr>
            </a:pPr>
            <a:r>
              <a:rPr sz="1500" b="1">
                <a:solidFill>
                  <a:srgbClr val="16765C"/>
                </a:solidFill>
                <a:latin typeface="DejaVu Sans"/>
                <a:ea typeface="DejaVu Sans"/>
                <a:cs typeface="DejaVu Sans"/>
              </a:rPr>
              <a:t>NO-MODEL PREVIEW</a:t>
            </a:r>
          </a:p>
        </p:txBody>
      </p:sp>
      <p:sp>
        <p:nvSpPr>
          <p:cNvPr id="9" name="">
            <a:extLst xmlns:a="http://schemas.openxmlformats.org/drawingml/2006/main">
              <a:ext uri="{FF2B5EF4-FFF2-40B4-BE49-F238E27FC236}">
                <a16:creationId xmlns:a16="http://schemas.microsoft.com/office/drawing/2014/main" id="{04F74FF7-1CD4-4A7B-ADC1-07FA8DF422B4}"/>
              </a:ext>
            </a:extLst>
          </p:cNvPr>
          <p:cNvSpPr>
            <a:spLocks xmlns:a="http://schemas.openxmlformats.org/drawingml/2006/main" noGrp="1"/>
          </p:cNvSpPr>
          <p:nvPr/>
        </p:nvSpPr>
        <p:spPr>
          <a:xfrm xmlns:a="http://schemas.openxmlformats.org/drawingml/2006/main">
            <a:off x="6524625" y="2952750"/>
            <a:ext cx="5048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E2A"/>
                </a:solidFill>
                <a:latin typeface="DejaVu Sans"/>
                <a:ea typeface="DejaVu Sans"/>
                <a:cs typeface="DejaVu Sans"/>
              </a:defRPr>
            </a:pPr>
            <a:r>
              <a:rPr sz="2625" b="1">
                <a:solidFill>
                  <a:srgbClr val="102E2A"/>
                </a:solidFill>
                <a:latin typeface="DejaVu Sans"/>
                <a:ea typeface="DejaVu Sans"/>
                <a:cs typeface="DejaVu Sans"/>
              </a:rPr>
              <a:t>Retrieved excerpts</a:t>
            </a:r>
          </a:p>
          <a:p xmlns:a="http://schemas.openxmlformats.org/drawingml/2006/main">
            <a:pPr>
              <a:defRPr sz="2625" b="1">
                <a:solidFill>
                  <a:srgbClr val="102E2A"/>
                </a:solidFill>
                <a:latin typeface="DejaVu Sans"/>
                <a:ea typeface="DejaVu Sans"/>
                <a:cs typeface="DejaVu Sans"/>
              </a:defRPr>
            </a:pPr>
            <a:r>
              <a:rPr sz="2625" b="1">
                <a:solidFill>
                  <a:srgbClr val="102E2A"/>
                </a:solidFill>
                <a:latin typeface="DejaVu Sans"/>
                <a:ea typeface="DejaVu Sans"/>
                <a:cs typeface="DejaVu Sans"/>
              </a:rPr>
              <a:t>Scripted tool sequence</a:t>
            </a:r>
          </a:p>
        </p:txBody>
      </p:sp>
      <p:sp>
        <p:nvSpPr>
          <p:cNvPr id="10" name="">
            <a:extLst xmlns:a="http://schemas.openxmlformats.org/drawingml/2006/main">
              <a:ext uri="{FF2B5EF4-FFF2-40B4-BE49-F238E27FC236}">
                <a16:creationId xmlns:a16="http://schemas.microsoft.com/office/drawing/2014/main" id="{5F93AAD8-91F7-46DD-8341-2EF527E74FD6}"/>
              </a:ext>
            </a:extLst>
          </p:cNvPr>
          <p:cNvSpPr>
            <a:spLocks xmlns:a="http://schemas.openxmlformats.org/drawingml/2006/main" noGrp="1"/>
          </p:cNvSpPr>
          <p:nvPr/>
        </p:nvSpPr>
        <p:spPr>
          <a:xfrm xmlns:a="http://schemas.openxmlformats.org/drawingml/2006/main">
            <a:off x="6524625" y="4552950"/>
            <a:ext cx="5048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Runs immediately with Python.</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Clearly labelled as a preview.</a:t>
            </a:r>
          </a:p>
        </p:txBody>
      </p:sp>
      <p:sp>
        <p:nvSpPr>
          <p:cNvPr id="11" name="">
            <a:extLst xmlns:a="http://schemas.openxmlformats.org/drawingml/2006/main">
              <a:ext uri="{FF2B5EF4-FFF2-40B4-BE49-F238E27FC236}">
                <a16:creationId xmlns:a16="http://schemas.microsoft.com/office/drawing/2014/main" id="{DA3F7BD6-ACFD-42AA-87B0-5BA1E5EEBABF}"/>
              </a:ext>
            </a:extLst>
          </p:cNvPr>
          <p:cNvSpPr>
            <a:spLocks xmlns:a="http://schemas.openxmlformats.org/drawingml/2006/main" noGrp="1"/>
          </p:cNvSpPr>
          <p:nvPr/>
        </p:nvSpPr>
        <p:spPr>
          <a:xfrm xmlns:a="http://schemas.openxmlformats.org/drawingml/2006/main">
            <a:off x="609600" y="5962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65C"/>
                </a:solidFill>
                <a:latin typeface="DejaVu Sans"/>
                <a:ea typeface="DejaVu Sans"/>
                <a:cs typeface="DejaVu Sans"/>
              </a:defRPr>
            </a:pPr>
            <a:r>
              <a:rPr sz="1800" b="1">
                <a:solidFill>
                  <a:srgbClr val="16765C"/>
                </a:solidFill>
                <a:latin typeface="DejaVu Sans"/>
                <a:ea typeface="DejaVu Sans"/>
                <a:cs typeface="DejaVu Sans"/>
              </a:rPr>
              <a:t>31 automated tests pass. Live-model quality and latency still need validation.</a:t>
            </a:r>
          </a:p>
        </p:txBody>
      </p:sp>
    </p:spTree>
    <p:extLst>
      <p:ext uri="{BB962C8B-B14F-4D97-AF65-F5344CB8AC3E}">
        <p14:creationId xmlns:p14="http://schemas.microsoft.com/office/powerpoint/2010/main" val="1046577300"/>
      </p:ext>
    </p:extLst>
  </p:cSld>
</p:sld>
</file>

<file path=ppt/slides/slide9.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E9D53B-D80A-4361-90DC-ED8B25078851}"/>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1F791"/>
                </a:solidFill>
                <a:latin typeface="DejaVu Sans"/>
                <a:ea typeface="DejaVu Sans"/>
                <a:cs typeface="DejaVu Sans"/>
              </a:defRPr>
            </a:pPr>
            <a:r>
              <a:rPr sz="1200" b="1">
                <a:solidFill>
                  <a:srgbClr val="D1F791"/>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F07F41C3-2013-460F-954C-9AFFAD69EA28}"/>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Running the full AI assistant</a:t>
            </a:r>
          </a:p>
        </p:txBody>
      </p:sp>
      <p:sp>
        <p:nvSpPr>
          <p:cNvPr id="3" name="">
            <a:extLst xmlns:a="http://schemas.openxmlformats.org/drawingml/2006/main">
              <a:ext uri="{FF2B5EF4-FFF2-40B4-BE49-F238E27FC236}">
                <a16:creationId xmlns:a16="http://schemas.microsoft.com/office/drawing/2014/main" id="{5448151A-AD97-43B3-8873-129B79D20AD8}"/>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1F791"/>
                </a:solidFill>
                <a:latin typeface="DejaVu Sans"/>
                <a:ea typeface="DejaVu Sans"/>
                <a:cs typeface="DejaVu Sans"/>
              </a:defRPr>
            </a:pPr>
            <a:r>
              <a:rPr sz="1275" b="0">
                <a:solidFill>
                  <a:srgbClr val="D1F791"/>
                </a:solidFill>
                <a:latin typeface="DejaVu Sans"/>
                <a:ea typeface="DejaVu Sans"/>
                <a:cs typeface="DejaVu Sans"/>
              </a:rPr>
              <a:t>09</a:t>
            </a:r>
          </a:p>
        </p:txBody>
      </p:sp>
      <p:sp>
        <p:nvSpPr>
          <p:cNvPr id="4" name="">
            <a:extLst xmlns:a="http://schemas.openxmlformats.org/drawingml/2006/main">
              <a:ext uri="{FF2B5EF4-FFF2-40B4-BE49-F238E27FC236}">
                <a16:creationId xmlns:a16="http://schemas.microsoft.com/office/drawing/2014/main" id="{F9EE092A-30A4-4289-B87E-AA11445D702D}"/>
              </a:ext>
            </a:extLst>
          </p:cNvPr>
          <p:cNvSpPr>
            <a:spLocks xmlns:a="http://schemas.openxmlformats.org/drawingml/2006/main" noGrp="1"/>
          </p:cNvSpPr>
          <p:nvPr/>
        </p:nvSpPr>
        <p:spPr>
          <a:xfrm xmlns:a="http://schemas.openxmlformats.org/drawingml/2006/main">
            <a:off x="609600" y="19526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01  Install and start Ollama</a:t>
            </a:r>
          </a:p>
        </p:txBody>
      </p:sp>
      <p:sp>
        <p:nvSpPr>
          <p:cNvPr id="5" name="">
            <a:extLst xmlns:a="http://schemas.openxmlformats.org/drawingml/2006/main">
              <a:ext uri="{FF2B5EF4-FFF2-40B4-BE49-F238E27FC236}">
                <a16:creationId xmlns:a16="http://schemas.microsoft.com/office/drawing/2014/main" id="{E76A747E-049C-4561-A189-D4FDD28116ED}"/>
              </a:ext>
            </a:extLst>
          </p:cNvPr>
          <p:cNvSpPr>
            <a:spLocks xmlns:a="http://schemas.openxmlformats.org/drawingml/2006/main" noGrp="1"/>
          </p:cNvSpPr>
          <p:nvPr/>
        </p:nvSpPr>
        <p:spPr>
          <a:xfrm xmlns:a="http://schemas.openxmlformats.org/drawingml/2006/main">
            <a:off x="609600" y="28956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D1F791"/>
                </a:solidFill>
                <a:latin typeface="DejaVu Sans"/>
                <a:ea typeface="DejaVu Sans"/>
                <a:cs typeface="DejaVu Sans"/>
              </a:defRPr>
            </a:pPr>
            <a:r>
              <a:rPr sz="2400" b="1">
                <a:solidFill>
                  <a:srgbClr val="D1F791"/>
                </a:solidFill>
                <a:latin typeface="DejaVu Sans"/>
                <a:ea typeface="DejaVu Sans"/>
                <a:cs typeface="DejaVu Sans"/>
              </a:rPr>
              <a:t>02  ollama pull qwen3:4b</a:t>
            </a:r>
          </a:p>
        </p:txBody>
      </p:sp>
      <p:sp>
        <p:nvSpPr>
          <p:cNvPr id="6" name="">
            <a:extLst xmlns:a="http://schemas.openxmlformats.org/drawingml/2006/main">
              <a:ext uri="{FF2B5EF4-FFF2-40B4-BE49-F238E27FC236}">
                <a16:creationId xmlns:a16="http://schemas.microsoft.com/office/drawing/2014/main" id="{869E7B28-EA04-4D64-8859-D8972E041818}"/>
              </a:ext>
            </a:extLst>
          </p:cNvPr>
          <p:cNvSpPr>
            <a:spLocks xmlns:a="http://schemas.openxmlformats.org/drawingml/2006/main" noGrp="1"/>
          </p:cNvSpPr>
          <p:nvPr/>
        </p:nvSpPr>
        <p:spPr>
          <a:xfrm xmlns:a="http://schemas.openxmlformats.org/drawingml/2006/main">
            <a:off x="609600" y="38385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1F791"/>
                </a:solidFill>
                <a:latin typeface="DejaVu Sans"/>
                <a:ea typeface="DejaVu Sans"/>
                <a:cs typeface="DejaVu Sans"/>
              </a:defRPr>
            </a:pPr>
            <a:r>
              <a:rPr sz="2325" b="1">
                <a:solidFill>
                  <a:srgbClr val="D1F791"/>
                </a:solidFill>
                <a:latin typeface="DejaVu Sans"/>
                <a:ea typeface="DejaVu Sans"/>
                <a:cs typeface="DejaVu Sans"/>
              </a:rPr>
              <a:t>03  python3 web_app.py --ai-mode ollama</a:t>
            </a:r>
          </a:p>
        </p:txBody>
      </p:sp>
      <p:sp>
        <p:nvSpPr>
          <p:cNvPr id="7" name="">
            <a:extLst xmlns:a="http://schemas.openxmlformats.org/drawingml/2006/main">
              <a:ext uri="{FF2B5EF4-FFF2-40B4-BE49-F238E27FC236}">
                <a16:creationId xmlns:a16="http://schemas.microsoft.com/office/drawing/2014/main" id="{4D3741E8-D146-43A3-99CE-B0E3C778E7E4}"/>
              </a:ext>
            </a:extLst>
          </p:cNvPr>
          <p:cNvSpPr>
            <a:spLocks xmlns:a="http://schemas.openxmlformats.org/drawingml/2006/main" noGrp="1"/>
          </p:cNvSpPr>
          <p:nvPr/>
        </p:nvSpPr>
        <p:spPr>
          <a:xfrm xmlns:a="http://schemas.openxmlformats.org/drawingml/2006/main">
            <a:off x="609600" y="48291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Open Reuse assistant. Ask about inspection, then prepare a reuse plan.</a:t>
            </a:r>
          </a:p>
        </p:txBody>
      </p:sp>
      <p:sp>
        <p:nvSpPr>
          <p:cNvPr id="8" name="">
            <a:extLst xmlns:a="http://schemas.openxmlformats.org/drawingml/2006/main">
              <a:ext uri="{FF2B5EF4-FFF2-40B4-BE49-F238E27FC236}">
                <a16:creationId xmlns:a16="http://schemas.microsoft.com/office/drawing/2014/main" id="{84096F96-D5CA-438D-AF7E-26C3F5DB051B}"/>
              </a:ext>
            </a:extLst>
          </p:cNvPr>
          <p:cNvSpPr>
            <a:spLocks xmlns:a="http://schemas.openxmlformats.org/drawingml/2006/main" noGrp="1"/>
          </p:cNvSpPr>
          <p:nvPr/>
        </p:nvSpPr>
        <p:spPr>
          <a:xfrm xmlns:a="http://schemas.openxmlformats.org/drawingml/2006/main">
            <a:off x="609600" y="6010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9D2C6"/>
                </a:solidFill>
                <a:latin typeface="DejaVu Sans"/>
                <a:ea typeface="DejaVu Sans"/>
                <a:cs typeface="DejaVu Sans"/>
              </a:defRPr>
            </a:pPr>
            <a:r>
              <a:rPr sz="1725" b="0">
                <a:solidFill>
                  <a:srgbClr val="B9D2C6"/>
                </a:solidFill>
                <a:latin typeface="DejaVu Sans"/>
                <a:ea typeface="DejaVu Sans"/>
                <a:cs typeface="DejaVu Sans"/>
              </a:rPr>
              <a:t>Setup: docs/AI_SETUP.md   •   No API key required</a:t>
            </a:r>
          </a:p>
        </p:txBody>
      </p:sp>
    </p:spTree>
    <p:extLst>
      <p:ext uri="{BB962C8B-B14F-4D97-AF65-F5344CB8AC3E}">
        <p14:creationId xmlns:p14="http://schemas.microsoft.com/office/powerpoint/2010/main" val="1269888098"/>
      </p:ext>
    </p:extLst>
  </p:cSld>
</p:sld>
</file>

<file path=ppt/slides/slide10.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F770D0-7D35-453F-9D7E-6EE6616E5B7F}"/>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The prototype finds reusable resources</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bcbcdf597464d8a"/>
          <a:stretch xmlns:a="http://schemas.openxmlformats.org/drawingml/2006/main"/>
        </p:blipFill>
        <p:spPr>
          <a:xfrm xmlns:a="http://schemas.openxmlformats.org/drawingml/2006/main">
            <a:off x="1476375" y="1080890"/>
            <a:ext cx="9239250" cy="5001021"/>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2A647BF-BF9E-4D55-A473-4E1E3552598C}"/>
              </a:ext>
            </a:extLst>
          </p:cNvPr>
          <p:cNvSpPr>
            <a:spLocks xmlns:a="http://schemas.openxmlformats.org/drawingml/2006/main" noGrp="1"/>
          </p:cNvSpPr>
          <p:nvPr/>
        </p:nvSpPr>
        <p:spPr>
          <a:xfrm xmlns:a="http://schemas.openxmlformats.org/drawingml/2006/main">
            <a:off x="609600" y="62484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765C"/>
                </a:solidFill>
                <a:latin typeface="DejaVu Sans"/>
                <a:ea typeface="DejaVu Sans"/>
                <a:cs typeface="DejaVu Sans"/>
              </a:defRPr>
            </a:pPr>
            <a:r>
              <a:rPr sz="1650" b="0">
                <a:solidFill>
                  <a:srgbClr val="16765C"/>
                </a:solidFill>
                <a:latin typeface="DejaVu Sans"/>
                <a:ea typeface="DejaVu Sans"/>
                <a:cs typeface="DejaVu Sans"/>
              </a:rPr>
              <a:t>School request: 2 displays within 10 km. This view follows earlier demo transfers.</a:t>
            </a:r>
          </a:p>
        </p:txBody>
      </p:sp>
    </p:spTree>
    <p:extLst>
      <p:ext uri="{BB962C8B-B14F-4D97-AF65-F5344CB8AC3E}">
        <p14:creationId xmlns:p14="http://schemas.microsoft.com/office/powerpoint/2010/main" val="2076533531"/>
      </p:ext>
    </p:extLst>
  </p:cSld>
</p:sld>
</file>

<file path=ppt/slides/slide11.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17A83B8-8606-45F9-8057-728857FE163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The ledger records each demo transfer</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9a752cd821248f3"/>
          <a:stretch xmlns:a="http://schemas.openxmlformats.org/drawingml/2006/main"/>
        </p:blipFill>
        <p:spPr>
          <a:xfrm xmlns:a="http://schemas.openxmlformats.org/drawingml/2006/main">
            <a:off x="1476375" y="1069606"/>
            <a:ext cx="9239250" cy="502358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4758CD-6807-476A-BBBB-FE2091185D55}"/>
              </a:ext>
            </a:extLst>
          </p:cNvPr>
          <p:cNvSpPr>
            <a:spLocks xmlns:a="http://schemas.openxmlformats.org/drawingml/2006/main" noGrp="1"/>
          </p:cNvSpPr>
          <p:nvPr/>
        </p:nvSpPr>
        <p:spPr>
          <a:xfrm xmlns:a="http://schemas.openxmlformats.org/drawingml/2006/main">
            <a:off x="609600" y="62484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765C"/>
                </a:solidFill>
                <a:latin typeface="DejaVu Sans"/>
                <a:ea typeface="DejaVu Sans"/>
                <a:cs typeface="DejaVu Sans"/>
              </a:defRPr>
            </a:pPr>
            <a:r>
              <a:rPr sz="1650" b="0">
                <a:solidFill>
                  <a:srgbClr val="16765C"/>
                </a:solidFill>
                <a:latin typeface="DejaVu Sans"/>
                <a:ea typeface="DejaVu Sans"/>
                <a:cs typeface="DejaVu Sans"/>
              </a:rPr>
              <a:t>4 units reused. Estimated mass: 14 kg. Two transfers. Displayed savings: ₹0.</a:t>
            </a:r>
          </a:p>
        </p:txBody>
      </p:sp>
    </p:spTree>
    <p:extLst>
      <p:ext uri="{BB962C8B-B14F-4D97-AF65-F5344CB8AC3E}">
        <p14:creationId xmlns:p14="http://schemas.microsoft.com/office/powerpoint/2010/main" val="1861867708"/>
      </p:ext>
    </p:extLst>
  </p:cSld>
</p:sld>
</file>

<file path=ppt/slides/slide12.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837DC5-1859-43ED-9882-2715C33D894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02E2A"/>
                </a:solidFill>
                <a:latin typeface="DejaVu Sans"/>
                <a:ea typeface="DejaVu Sans"/>
                <a:cs typeface="DejaVu Sans"/>
              </a:defRPr>
            </a:pPr>
            <a:r>
              <a:rPr sz="2850" b="1">
                <a:solidFill>
                  <a:srgbClr val="102E2A"/>
                </a:solidFill>
                <a:latin typeface="DejaVu Sans"/>
                <a:ea typeface="DejaVu Sans"/>
                <a:cs typeface="DejaVu Sans"/>
              </a:rPr>
              <a:t>The network tracks partner eligibility</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ca115230d1647b8"/>
          <a:stretch xmlns:a="http://schemas.openxmlformats.org/drawingml/2006/main"/>
        </p:blipFill>
        <p:spPr>
          <a:xfrm xmlns:a="http://schemas.openxmlformats.org/drawingml/2006/main">
            <a:off x="1508312" y="1066800"/>
            <a:ext cx="9175376" cy="50292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8D72BB8-9ACD-4EAE-857A-19F401BBEE4E}"/>
              </a:ext>
            </a:extLst>
          </p:cNvPr>
          <p:cNvSpPr>
            <a:spLocks xmlns:a="http://schemas.openxmlformats.org/drawingml/2006/main" noGrp="1"/>
          </p:cNvSpPr>
          <p:nvPr/>
        </p:nvSpPr>
        <p:spPr>
          <a:xfrm xmlns:a="http://schemas.openxmlformats.org/drawingml/2006/main">
            <a:off x="609600" y="62484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765C"/>
                </a:solidFill>
                <a:latin typeface="DejaVu Sans"/>
                <a:ea typeface="DejaVu Sans"/>
                <a:cs typeface="DejaVu Sans"/>
              </a:defRPr>
            </a:pPr>
            <a:r>
              <a:rPr sz="1650" b="0">
                <a:solidFill>
                  <a:srgbClr val="16765C"/>
                </a:solidFill>
                <a:latin typeface="DejaVu Sans"/>
                <a:ea typeface="DejaVu Sans"/>
                <a:cs typeface="DejaVu Sans"/>
              </a:rPr>
              <a:t>Two approved demo partners and one awaiting review. All institutions are fictional.</a:t>
            </a:r>
          </a:p>
        </p:txBody>
      </p:sp>
    </p:spTree>
    <p:extLst>
      <p:ext uri="{BB962C8B-B14F-4D97-AF65-F5344CB8AC3E}">
        <p14:creationId xmlns:p14="http://schemas.microsoft.com/office/powerpoint/2010/main" val="1838299632"/>
      </p:ext>
    </p:extLst>
  </p:cSld>
</p:sld>
</file>

<file path=ppt/slides/slide13.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241BD52-7CF3-4F74-8454-AFD7FFA38C7B}"/>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527D66AF-1615-4A02-AC98-80ADFCE4F289}"/>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What makes this approach distinctive?</a:t>
            </a:r>
          </a:p>
        </p:txBody>
      </p:sp>
      <p:sp>
        <p:nvSpPr>
          <p:cNvPr id="3" name="">
            <a:extLst xmlns:a="http://schemas.openxmlformats.org/drawingml/2006/main">
              <a:ext uri="{FF2B5EF4-FFF2-40B4-BE49-F238E27FC236}">
                <a16:creationId xmlns:a16="http://schemas.microsoft.com/office/drawing/2014/main" id="{1E1C01AE-196F-4F58-B3E1-9BD63A71EEAE}"/>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4967FB52-6003-44C7-8B5D-B6DFE8B7242D}"/>
              </a:ext>
            </a:extLst>
          </p:cNvPr>
          <p:cNvSpPr>
            <a:spLocks xmlns:a="http://schemas.openxmlformats.org/drawingml/2006/main" noGrp="1"/>
          </p:cNvSpPr>
          <p:nvPr/>
        </p:nvSpPr>
        <p:spPr>
          <a:xfrm xmlns:a="http://schemas.openxmlformats.org/drawingml/2006/main">
            <a:off x="609600" y="2038350"/>
            <a:ext cx="100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6765C"/>
                </a:solidFill>
                <a:latin typeface="DejaVu Sans"/>
                <a:ea typeface="DejaVu Sans"/>
                <a:cs typeface="DejaVu Sans"/>
              </a:defRPr>
            </a:pPr>
            <a:r>
              <a:rPr sz="3900" b="1">
                <a:solidFill>
                  <a:srgbClr val="16765C"/>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96C7D917-B9D0-4E18-B400-0FB1F99C758E}"/>
              </a:ext>
            </a:extLst>
          </p:cNvPr>
          <p:cNvSpPr>
            <a:spLocks xmlns:a="http://schemas.openxmlformats.org/drawingml/2006/main" noGrp="1"/>
          </p:cNvSpPr>
          <p:nvPr/>
        </p:nvSpPr>
        <p:spPr>
          <a:xfrm xmlns:a="http://schemas.openxmlformats.org/drawingml/2006/main">
            <a:off x="2000250" y="203835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E2A"/>
                </a:solidFill>
                <a:latin typeface="DejaVu Sans"/>
                <a:ea typeface="DejaVu Sans"/>
                <a:cs typeface="DejaVu Sans"/>
              </a:defRPr>
            </a:pPr>
            <a:r>
              <a:rPr sz="2250" b="1">
                <a:solidFill>
                  <a:srgbClr val="102E2A"/>
                </a:solidFill>
                <a:latin typeface="DejaVu Sans"/>
                <a:ea typeface="DejaVu Sans"/>
                <a:cs typeface="DejaVu Sans"/>
              </a:rPr>
              <a:t>Reuse before purchase</a:t>
            </a:r>
          </a:p>
        </p:txBody>
      </p:sp>
      <p:sp>
        <p:nvSpPr>
          <p:cNvPr id="6" name="">
            <a:extLst xmlns:a="http://schemas.openxmlformats.org/drawingml/2006/main">
              <a:ext uri="{FF2B5EF4-FFF2-40B4-BE49-F238E27FC236}">
                <a16:creationId xmlns:a16="http://schemas.microsoft.com/office/drawing/2014/main" id="{A60B3B80-E542-4BB5-9F51-F13B2347B945}"/>
              </a:ext>
            </a:extLst>
          </p:cNvPr>
          <p:cNvSpPr>
            <a:spLocks xmlns:a="http://schemas.openxmlformats.org/drawingml/2006/main" noGrp="1"/>
          </p:cNvSpPr>
          <p:nvPr/>
        </p:nvSpPr>
        <p:spPr>
          <a:xfrm xmlns:a="http://schemas.openxmlformats.org/drawingml/2006/main">
            <a:off x="2000250" y="2505075"/>
            <a:ext cx="9467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Begin with a real equipment need, then search existing stock.</a:t>
            </a:r>
          </a:p>
        </p:txBody>
      </p:sp>
      <p:sp>
        <p:nvSpPr>
          <p:cNvPr id="7" name="">
            <a:extLst xmlns:a="http://schemas.openxmlformats.org/drawingml/2006/main">
              <a:ext uri="{FF2B5EF4-FFF2-40B4-BE49-F238E27FC236}">
                <a16:creationId xmlns:a16="http://schemas.microsoft.com/office/drawing/2014/main" id="{89BA2F44-8657-4263-BD9C-7E29A24069B8}"/>
              </a:ext>
            </a:extLst>
          </p:cNvPr>
          <p:cNvSpPr>
            <a:spLocks xmlns:a="http://schemas.openxmlformats.org/drawingml/2006/main" noGrp="1"/>
          </p:cNvSpPr>
          <p:nvPr/>
        </p:nvSpPr>
        <p:spPr>
          <a:xfrm xmlns:a="http://schemas.openxmlformats.org/drawingml/2006/main">
            <a:off x="609600" y="3124200"/>
            <a:ext cx="100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6765C"/>
                </a:solidFill>
                <a:latin typeface="DejaVu Sans"/>
                <a:ea typeface="DejaVu Sans"/>
                <a:cs typeface="DejaVu Sans"/>
              </a:defRPr>
            </a:pPr>
            <a:r>
              <a:rPr sz="3900" b="1">
                <a:solidFill>
                  <a:srgbClr val="16765C"/>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E530F8C4-E3C2-46CC-BF17-82EEB6EE9674}"/>
              </a:ext>
            </a:extLst>
          </p:cNvPr>
          <p:cNvSpPr>
            <a:spLocks xmlns:a="http://schemas.openxmlformats.org/drawingml/2006/main" noGrp="1"/>
          </p:cNvSpPr>
          <p:nvPr/>
        </p:nvSpPr>
        <p:spPr>
          <a:xfrm xmlns:a="http://schemas.openxmlformats.org/drawingml/2006/main">
            <a:off x="2000250" y="31242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E2A"/>
                </a:solidFill>
                <a:latin typeface="DejaVu Sans"/>
                <a:ea typeface="DejaVu Sans"/>
                <a:cs typeface="DejaVu Sans"/>
              </a:defRPr>
            </a:pPr>
            <a:r>
              <a:rPr sz="2250" b="1">
                <a:solidFill>
                  <a:srgbClr val="102E2A"/>
                </a:solidFill>
                <a:latin typeface="DejaVu Sans"/>
                <a:ea typeface="DejaVu Sans"/>
                <a:cs typeface="DejaVu Sans"/>
              </a:rPr>
              <a:t>School-aware matching</a:t>
            </a:r>
          </a:p>
        </p:txBody>
      </p:sp>
      <p:sp>
        <p:nvSpPr>
          <p:cNvPr id="9" name="">
            <a:extLst xmlns:a="http://schemas.openxmlformats.org/drawingml/2006/main">
              <a:ext uri="{FF2B5EF4-FFF2-40B4-BE49-F238E27FC236}">
                <a16:creationId xmlns:a16="http://schemas.microsoft.com/office/drawing/2014/main" id="{E77E095A-F647-4D8B-A8E7-33FEF23C1F7C}"/>
              </a:ext>
            </a:extLst>
          </p:cNvPr>
          <p:cNvSpPr>
            <a:spLocks xmlns:a="http://schemas.openxmlformats.org/drawingml/2006/main" noGrp="1"/>
          </p:cNvSpPr>
          <p:nvPr/>
        </p:nvSpPr>
        <p:spPr>
          <a:xfrm xmlns:a="http://schemas.openxmlformats.org/drawingml/2006/main">
            <a:off x="2000250" y="3590925"/>
            <a:ext cx="9467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Apply recipient eligibility and school-sharing permissions.</a:t>
            </a:r>
          </a:p>
        </p:txBody>
      </p:sp>
      <p:sp>
        <p:nvSpPr>
          <p:cNvPr id="10" name="">
            <a:extLst xmlns:a="http://schemas.openxmlformats.org/drawingml/2006/main">
              <a:ext uri="{FF2B5EF4-FFF2-40B4-BE49-F238E27FC236}">
                <a16:creationId xmlns:a16="http://schemas.microsoft.com/office/drawing/2014/main" id="{E5EAD0CA-1151-4CC2-A049-D0B4A7CE64AA}"/>
              </a:ext>
            </a:extLst>
          </p:cNvPr>
          <p:cNvSpPr>
            <a:spLocks xmlns:a="http://schemas.openxmlformats.org/drawingml/2006/main" noGrp="1"/>
          </p:cNvSpPr>
          <p:nvPr/>
        </p:nvSpPr>
        <p:spPr>
          <a:xfrm xmlns:a="http://schemas.openxmlformats.org/drawingml/2006/main">
            <a:off x="609600" y="4210050"/>
            <a:ext cx="1000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6765C"/>
                </a:solidFill>
                <a:latin typeface="DejaVu Sans"/>
                <a:ea typeface="DejaVu Sans"/>
                <a:cs typeface="DejaVu Sans"/>
              </a:defRPr>
            </a:pPr>
            <a:r>
              <a:rPr sz="3900" b="1">
                <a:solidFill>
                  <a:srgbClr val="16765C"/>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8A377084-0F17-49A4-A4E0-7EE05F2A5FFE}"/>
              </a:ext>
            </a:extLst>
          </p:cNvPr>
          <p:cNvSpPr>
            <a:spLocks xmlns:a="http://schemas.openxmlformats.org/drawingml/2006/main" noGrp="1"/>
          </p:cNvSpPr>
          <p:nvPr/>
        </p:nvSpPr>
        <p:spPr>
          <a:xfrm xmlns:a="http://schemas.openxmlformats.org/drawingml/2006/main">
            <a:off x="2000250" y="421005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E2A"/>
                </a:solidFill>
                <a:latin typeface="DejaVu Sans"/>
                <a:ea typeface="DejaVu Sans"/>
                <a:cs typeface="DejaVu Sans"/>
              </a:defRPr>
            </a:pPr>
            <a:r>
              <a:rPr sz="2250" b="1">
                <a:solidFill>
                  <a:srgbClr val="102E2A"/>
                </a:solidFill>
                <a:latin typeface="DejaVu Sans"/>
                <a:ea typeface="DejaVu Sans"/>
                <a:cs typeface="DejaVu Sans"/>
              </a:rPr>
              <a:t>A traceable transfer</a:t>
            </a:r>
          </a:p>
        </p:txBody>
      </p:sp>
      <p:sp>
        <p:nvSpPr>
          <p:cNvPr id="12" name="">
            <a:extLst xmlns:a="http://schemas.openxmlformats.org/drawingml/2006/main">
              <a:ext uri="{FF2B5EF4-FFF2-40B4-BE49-F238E27FC236}">
                <a16:creationId xmlns:a16="http://schemas.microsoft.com/office/drawing/2014/main" id="{48EBCA4A-6138-4382-9849-463B952C8F66}"/>
              </a:ext>
            </a:extLst>
          </p:cNvPr>
          <p:cNvSpPr>
            <a:spLocks xmlns:a="http://schemas.openxmlformats.org/drawingml/2006/main" noGrp="1"/>
          </p:cNvSpPr>
          <p:nvPr/>
        </p:nvSpPr>
        <p:spPr>
          <a:xfrm xmlns:a="http://schemas.openxmlformats.org/drawingml/2006/main">
            <a:off x="2000250" y="4676775"/>
            <a:ext cx="9467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Connect the match to approval, stock updates and reuse estimates.</a:t>
            </a:r>
          </a:p>
        </p:txBody>
      </p:sp>
      <p:sp>
        <p:nvSpPr>
          <p:cNvPr id="13" name="">
            <a:extLst xmlns:a="http://schemas.openxmlformats.org/drawingml/2006/main">
              <a:ext uri="{FF2B5EF4-FFF2-40B4-BE49-F238E27FC236}">
                <a16:creationId xmlns:a16="http://schemas.microsoft.com/office/drawing/2014/main" id="{2877AA8D-B276-4FC4-8D20-8CDB068C6E00}"/>
              </a:ext>
            </a:extLst>
          </p:cNvPr>
          <p:cNvSpPr>
            <a:spLocks xmlns:a="http://schemas.openxmlformats.org/drawingml/2006/main" noGrp="1"/>
          </p:cNvSpPr>
          <p:nvPr/>
        </p:nvSpPr>
        <p:spPr>
          <a:xfrm xmlns:a="http://schemas.openxmlformats.org/drawingml/2006/main">
            <a:off x="609600" y="5543550"/>
            <a:ext cx="10972800" cy="676275"/>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421990-24BB-47CA-86F1-D7E448286D44}"/>
              </a:ext>
            </a:extLst>
          </p:cNvPr>
          <p:cNvSpPr>
            <a:spLocks xmlns:a="http://schemas.openxmlformats.org/drawingml/2006/main" noGrp="1"/>
          </p:cNvSpPr>
          <p:nvPr/>
        </p:nvSpPr>
        <p:spPr>
          <a:xfrm xmlns:a="http://schemas.openxmlformats.org/drawingml/2006/main">
            <a:off x="800100" y="5715000"/>
            <a:ext cx="1059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Future concept: a resource passport with repair history and reuse follow-up.</a:t>
            </a:r>
          </a:p>
        </p:txBody>
      </p:sp>
    </p:spTree>
    <p:extLst>
      <p:ext uri="{BB962C8B-B14F-4D97-AF65-F5344CB8AC3E}">
        <p14:creationId xmlns:p14="http://schemas.microsoft.com/office/powerpoint/2010/main" val="785612891"/>
      </p:ext>
    </p:extLst>
  </p:cSld>
</p:sld>
</file>

<file path=ppt/slides/slide14.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5EFCE9A-1843-42C7-8520-2D544CEEA51C}"/>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45D2A383-8DFF-4D44-933B-A1AD78C3464A}"/>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Responsible AI is part of the workflow</a:t>
            </a:r>
          </a:p>
        </p:txBody>
      </p:sp>
      <p:sp>
        <p:nvSpPr>
          <p:cNvPr id="3" name="">
            <a:extLst xmlns:a="http://schemas.openxmlformats.org/drawingml/2006/main">
              <a:ext uri="{FF2B5EF4-FFF2-40B4-BE49-F238E27FC236}">
                <a16:creationId xmlns:a16="http://schemas.microsoft.com/office/drawing/2014/main" id="{54762A74-D75D-4489-A0BD-49F82E34151B}"/>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3CB784B7-1BCD-43E5-A1A0-847F1FBD4B8A}"/>
              </a:ext>
            </a:extLst>
          </p:cNvPr>
          <p:cNvSpPr>
            <a:spLocks xmlns:a="http://schemas.openxmlformats.org/drawingml/2006/main" noGrp="1"/>
          </p:cNvSpPr>
          <p:nvPr/>
        </p:nvSpPr>
        <p:spPr>
          <a:xfrm xmlns:a="http://schemas.openxmlformats.org/drawingml/2006/main">
            <a:off x="609600" y="2047875"/>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65C"/>
                </a:solidFill>
                <a:latin typeface="DejaVu Sans"/>
                <a:ea typeface="DejaVu Sans"/>
                <a:cs typeface="DejaVu Sans"/>
              </a:defRPr>
            </a:pPr>
            <a:r>
              <a:rPr sz="2400" b="1">
                <a:solidFill>
                  <a:srgbClr val="16765C"/>
                </a:solidFill>
                <a:latin typeface="DejaVu Sans"/>
                <a:ea typeface="DejaVu Sans"/>
                <a:cs typeface="DejaVu Sans"/>
              </a:rPr>
              <a:t>Fairness</a:t>
            </a:r>
          </a:p>
        </p:txBody>
      </p:sp>
      <p:sp>
        <p:nvSpPr>
          <p:cNvPr id="5" name="">
            <a:extLst xmlns:a="http://schemas.openxmlformats.org/drawingml/2006/main">
              <a:ext uri="{FF2B5EF4-FFF2-40B4-BE49-F238E27FC236}">
                <a16:creationId xmlns:a16="http://schemas.microsoft.com/office/drawing/2014/main" id="{F638CEAE-314A-4908-ACDC-7B5D201A8884}"/>
              </a:ext>
            </a:extLst>
          </p:cNvPr>
          <p:cNvSpPr>
            <a:spLocks xmlns:a="http://schemas.openxmlformats.org/drawingml/2006/main" noGrp="1"/>
          </p:cNvSpPr>
          <p:nvPr/>
        </p:nvSpPr>
        <p:spPr>
          <a:xfrm xmlns:a="http://schemas.openxmlformats.org/drawingml/2006/main">
            <a:off x="4238625" y="2085975"/>
            <a:ext cx="721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Test varied vocabulary. Review missed needs.</a:t>
            </a:r>
          </a:p>
        </p:txBody>
      </p:sp>
      <p:sp>
        <p:nvSpPr>
          <p:cNvPr id="6" name="">
            <a:extLst xmlns:a="http://schemas.openxmlformats.org/drawingml/2006/main">
              <a:ext uri="{FF2B5EF4-FFF2-40B4-BE49-F238E27FC236}">
                <a16:creationId xmlns:a16="http://schemas.microsoft.com/office/drawing/2014/main" id="{9FC1146C-9D73-4378-95A8-C58338BACD0C}"/>
              </a:ext>
            </a:extLst>
          </p:cNvPr>
          <p:cNvSpPr>
            <a:spLocks xmlns:a="http://schemas.openxmlformats.org/drawingml/2006/main" noGrp="1"/>
          </p:cNvSpPr>
          <p:nvPr/>
        </p:nvSpPr>
        <p:spPr>
          <a:xfrm xmlns:a="http://schemas.openxmlformats.org/drawingml/2006/main">
            <a:off x="609600" y="2838450"/>
            <a:ext cx="10972800" cy="19050"/>
          </a:xfrm>
          <a:prstGeom xmlns:a="http://schemas.openxmlformats.org/drawingml/2006/main" prst="rect">
            <a:avLst/>
          </a:prstGeom>
          <a:solidFill xmlns:a="http://schemas.openxmlformats.org/drawingml/2006/main">
            <a:srgbClr val="CCD9C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06BF556-79C2-4805-B5A2-A53F10D8D9DB}"/>
              </a:ext>
            </a:extLst>
          </p:cNvPr>
          <p:cNvSpPr>
            <a:spLocks xmlns:a="http://schemas.openxmlformats.org/drawingml/2006/main" noGrp="1"/>
          </p:cNvSpPr>
          <p:nvPr/>
        </p:nvSpPr>
        <p:spPr>
          <a:xfrm xmlns:a="http://schemas.openxmlformats.org/drawingml/2006/main">
            <a:off x="609600" y="3019425"/>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65C"/>
                </a:solidFill>
                <a:latin typeface="DejaVu Sans"/>
                <a:ea typeface="DejaVu Sans"/>
                <a:cs typeface="DejaVu Sans"/>
              </a:defRPr>
            </a:pPr>
            <a:r>
              <a:rPr sz="2400" b="1">
                <a:solidFill>
                  <a:srgbClr val="16765C"/>
                </a:solidFill>
                <a:latin typeface="DejaVu Sans"/>
                <a:ea typeface="DejaVu Sans"/>
                <a:cs typeface="DejaVu Sans"/>
              </a:rPr>
              <a:t>Transparency</a:t>
            </a:r>
          </a:p>
        </p:txBody>
      </p:sp>
      <p:sp>
        <p:nvSpPr>
          <p:cNvPr id="8" name="">
            <a:extLst xmlns:a="http://schemas.openxmlformats.org/drawingml/2006/main">
              <a:ext uri="{FF2B5EF4-FFF2-40B4-BE49-F238E27FC236}">
                <a16:creationId xmlns:a16="http://schemas.microsoft.com/office/drawing/2014/main" id="{9ED4AC67-C9B5-4622-A969-D8E2A49CCF61}"/>
              </a:ext>
            </a:extLst>
          </p:cNvPr>
          <p:cNvSpPr>
            <a:spLocks xmlns:a="http://schemas.openxmlformats.org/drawingml/2006/main" noGrp="1"/>
          </p:cNvSpPr>
          <p:nvPr/>
        </p:nvSpPr>
        <p:spPr>
          <a:xfrm xmlns:a="http://schemas.openxmlformats.org/drawingml/2006/main">
            <a:off x="4238625" y="3057525"/>
            <a:ext cx="721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Show sources, tool activity and model limits.</a:t>
            </a:r>
          </a:p>
        </p:txBody>
      </p:sp>
      <p:sp>
        <p:nvSpPr>
          <p:cNvPr id="9" name="">
            <a:extLst xmlns:a="http://schemas.openxmlformats.org/drawingml/2006/main">
              <a:ext uri="{FF2B5EF4-FFF2-40B4-BE49-F238E27FC236}">
                <a16:creationId xmlns:a16="http://schemas.microsoft.com/office/drawing/2014/main" id="{977F2597-928C-4BFB-AB56-9DFBFC706108}"/>
              </a:ext>
            </a:extLst>
          </p:cNvPr>
          <p:cNvSpPr>
            <a:spLocks xmlns:a="http://schemas.openxmlformats.org/drawingml/2006/main" noGrp="1"/>
          </p:cNvSpPr>
          <p:nvPr/>
        </p:nvSpPr>
        <p:spPr>
          <a:xfrm xmlns:a="http://schemas.openxmlformats.org/drawingml/2006/main">
            <a:off x="609600" y="3810000"/>
            <a:ext cx="10972800" cy="19050"/>
          </a:xfrm>
          <a:prstGeom xmlns:a="http://schemas.openxmlformats.org/drawingml/2006/main" prst="rect">
            <a:avLst/>
          </a:prstGeom>
          <a:solidFill xmlns:a="http://schemas.openxmlformats.org/drawingml/2006/main">
            <a:srgbClr val="CCD9C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3EEE2B9-5920-4EEC-8763-1F18DB5C2034}"/>
              </a:ext>
            </a:extLst>
          </p:cNvPr>
          <p:cNvSpPr>
            <a:spLocks xmlns:a="http://schemas.openxmlformats.org/drawingml/2006/main" noGrp="1"/>
          </p:cNvSpPr>
          <p:nvPr/>
        </p:nvSpPr>
        <p:spPr>
          <a:xfrm xmlns:a="http://schemas.openxmlformats.org/drawingml/2006/main">
            <a:off x="609600" y="3990975"/>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65C"/>
                </a:solidFill>
                <a:latin typeface="DejaVu Sans"/>
                <a:ea typeface="DejaVu Sans"/>
                <a:cs typeface="DejaVu Sans"/>
              </a:defRPr>
            </a:pPr>
            <a:r>
              <a:rPr sz="2400" b="1">
                <a:solidFill>
                  <a:srgbClr val="16765C"/>
                </a:solidFill>
                <a:latin typeface="DejaVu Sans"/>
                <a:ea typeface="DejaVu Sans"/>
                <a:cs typeface="DejaVu Sans"/>
              </a:rPr>
              <a:t>Privacy</a:t>
            </a:r>
          </a:p>
        </p:txBody>
      </p:sp>
      <p:sp>
        <p:nvSpPr>
          <p:cNvPr id="11" name="">
            <a:extLst xmlns:a="http://schemas.openxmlformats.org/drawingml/2006/main">
              <a:ext uri="{FF2B5EF4-FFF2-40B4-BE49-F238E27FC236}">
                <a16:creationId xmlns:a16="http://schemas.microsoft.com/office/drawing/2014/main" id="{DE0E97D1-015E-4800-93AA-0236F0B8504C}"/>
              </a:ext>
            </a:extLst>
          </p:cNvPr>
          <p:cNvSpPr>
            <a:spLocks xmlns:a="http://schemas.openxmlformats.org/drawingml/2006/main" noGrp="1"/>
          </p:cNvSpPr>
          <p:nvPr/>
        </p:nvSpPr>
        <p:spPr>
          <a:xfrm xmlns:a="http://schemas.openxmlformats.org/drawingml/2006/main">
            <a:off x="4238625" y="4029075"/>
            <a:ext cx="721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Use fictional data. Collect no student details.</a:t>
            </a:r>
          </a:p>
        </p:txBody>
      </p:sp>
      <p:sp>
        <p:nvSpPr>
          <p:cNvPr id="12" name="">
            <a:extLst xmlns:a="http://schemas.openxmlformats.org/drawingml/2006/main">
              <a:ext uri="{FF2B5EF4-FFF2-40B4-BE49-F238E27FC236}">
                <a16:creationId xmlns:a16="http://schemas.microsoft.com/office/drawing/2014/main" id="{BFEE6D61-9F69-43D1-B570-101AA3B4F684}"/>
              </a:ext>
            </a:extLst>
          </p:cNvPr>
          <p:cNvSpPr>
            <a:spLocks xmlns:a="http://schemas.openxmlformats.org/drawingml/2006/main" noGrp="1"/>
          </p:cNvSpPr>
          <p:nvPr/>
        </p:nvSpPr>
        <p:spPr>
          <a:xfrm xmlns:a="http://schemas.openxmlformats.org/drawingml/2006/main">
            <a:off x="609600" y="4781550"/>
            <a:ext cx="10972800" cy="19050"/>
          </a:xfrm>
          <a:prstGeom xmlns:a="http://schemas.openxmlformats.org/drawingml/2006/main" prst="rect">
            <a:avLst/>
          </a:prstGeom>
          <a:solidFill xmlns:a="http://schemas.openxmlformats.org/drawingml/2006/main">
            <a:srgbClr val="CCD9C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EFDC3BE-052F-4957-9788-C8D03782E8DC}"/>
              </a:ext>
            </a:extLst>
          </p:cNvPr>
          <p:cNvSpPr>
            <a:spLocks xmlns:a="http://schemas.openxmlformats.org/drawingml/2006/main" noGrp="1"/>
          </p:cNvSpPr>
          <p:nvPr/>
        </p:nvSpPr>
        <p:spPr>
          <a:xfrm xmlns:a="http://schemas.openxmlformats.org/drawingml/2006/main">
            <a:off x="609600" y="4962525"/>
            <a:ext cx="321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65C"/>
                </a:solidFill>
                <a:latin typeface="DejaVu Sans"/>
                <a:ea typeface="DejaVu Sans"/>
                <a:cs typeface="DejaVu Sans"/>
              </a:defRPr>
            </a:pPr>
            <a:r>
              <a:rPr sz="2400" b="1">
                <a:solidFill>
                  <a:srgbClr val="16765C"/>
                </a:solidFill>
                <a:latin typeface="DejaVu Sans"/>
                <a:ea typeface="DejaVu Sans"/>
                <a:cs typeface="DejaVu Sans"/>
              </a:rPr>
              <a:t>Ethics</a:t>
            </a:r>
          </a:p>
        </p:txBody>
      </p:sp>
      <p:sp>
        <p:nvSpPr>
          <p:cNvPr id="14" name="">
            <a:extLst xmlns:a="http://schemas.openxmlformats.org/drawingml/2006/main">
              <a:ext uri="{FF2B5EF4-FFF2-40B4-BE49-F238E27FC236}">
                <a16:creationId xmlns:a16="http://schemas.microsoft.com/office/drawing/2014/main" id="{40760627-8278-4DD7-8D81-F6FEE01EA208}"/>
              </a:ext>
            </a:extLst>
          </p:cNvPr>
          <p:cNvSpPr>
            <a:spLocks xmlns:a="http://schemas.openxmlformats.org/drawingml/2006/main" noGrp="1"/>
          </p:cNvSpPr>
          <p:nvPr/>
        </p:nvSpPr>
        <p:spPr>
          <a:xfrm xmlns:a="http://schemas.openxmlformats.org/drawingml/2006/main">
            <a:off x="4238625" y="5000625"/>
            <a:ext cx="7219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E2A"/>
                </a:solidFill>
                <a:latin typeface="DejaVu Sans"/>
                <a:ea typeface="DejaVu Sans"/>
                <a:cs typeface="DejaVu Sans"/>
              </a:defRPr>
            </a:pPr>
            <a:r>
              <a:rPr sz="2025" b="0">
                <a:solidFill>
                  <a:srgbClr val="102E2A"/>
                </a:solidFill>
                <a:latin typeface="DejaVu Sans"/>
                <a:ea typeface="DejaVu Sans"/>
                <a:cs typeface="DejaVu Sans"/>
              </a:rPr>
              <a:t>Agent proposes. A person inspects and confirms.</a:t>
            </a:r>
          </a:p>
        </p:txBody>
      </p:sp>
    </p:spTree>
    <p:extLst>
      <p:ext uri="{BB962C8B-B14F-4D97-AF65-F5344CB8AC3E}">
        <p14:creationId xmlns:p14="http://schemas.microsoft.com/office/powerpoint/2010/main" val="1525628978"/>
      </p:ext>
    </p:extLst>
  </p:cSld>
</p:sld>
</file>

<file path=ppt/slides/slide15.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54FF00-21B3-4553-9296-01A1037491B5}"/>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027EC766-752A-44BD-A77C-07F6EA3FE001}"/>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A working baseline with a clear test plan</a:t>
            </a:r>
          </a:p>
        </p:txBody>
      </p:sp>
      <p:sp>
        <p:nvSpPr>
          <p:cNvPr id="3" name="">
            <a:extLst xmlns:a="http://schemas.openxmlformats.org/drawingml/2006/main">
              <a:ext uri="{FF2B5EF4-FFF2-40B4-BE49-F238E27FC236}">
                <a16:creationId xmlns:a16="http://schemas.microsoft.com/office/drawing/2014/main" id="{AFE003C0-F1B2-4FA7-9B52-83EC8BE4D5B7}"/>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15</a:t>
            </a:r>
          </a:p>
        </p:txBody>
      </p:sp>
      <p:sp>
        <p:nvSpPr>
          <p:cNvPr id="4" name="">
            <a:extLst xmlns:a="http://schemas.openxmlformats.org/drawingml/2006/main">
              <a:ext uri="{FF2B5EF4-FFF2-40B4-BE49-F238E27FC236}">
                <a16:creationId xmlns:a16="http://schemas.microsoft.com/office/drawing/2014/main" id="{C18B4738-4D34-4440-8CD7-62A7C6D56461}"/>
              </a:ext>
            </a:extLst>
          </p:cNvPr>
          <p:cNvSpPr>
            <a:spLocks xmlns:a="http://schemas.openxmlformats.org/drawingml/2006/main" noGrp="1"/>
          </p:cNvSpPr>
          <p:nvPr/>
        </p:nvSpPr>
        <p:spPr>
          <a:xfrm xmlns:a="http://schemas.openxmlformats.org/drawingml/2006/main">
            <a:off x="609600" y="191452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6765C"/>
                </a:solidFill>
                <a:latin typeface="DejaVu Sans"/>
                <a:ea typeface="DejaVu Sans"/>
                <a:cs typeface="DejaVu Sans"/>
              </a:defRPr>
            </a:pPr>
            <a:r>
              <a:rPr sz="6150" b="1">
                <a:solidFill>
                  <a:srgbClr val="16765C"/>
                </a:solidFill>
                <a:latin typeface="DejaVu Sans"/>
                <a:ea typeface="DejaVu Sans"/>
                <a:cs typeface="DejaVu Sans"/>
              </a:rPr>
              <a:t>13</a:t>
            </a:r>
          </a:p>
        </p:txBody>
      </p:sp>
      <p:sp>
        <p:nvSpPr>
          <p:cNvPr id="5" name="">
            <a:extLst xmlns:a="http://schemas.openxmlformats.org/drawingml/2006/main">
              <a:ext uri="{FF2B5EF4-FFF2-40B4-BE49-F238E27FC236}">
                <a16:creationId xmlns:a16="http://schemas.microsoft.com/office/drawing/2014/main" id="{D0135EAE-2FC5-44D0-8BB4-834AB589F083}"/>
              </a:ext>
            </a:extLst>
          </p:cNvPr>
          <p:cNvSpPr>
            <a:spLocks xmlns:a="http://schemas.openxmlformats.org/drawingml/2006/main" noGrp="1"/>
          </p:cNvSpPr>
          <p:nvPr/>
        </p:nvSpPr>
        <p:spPr>
          <a:xfrm xmlns:a="http://schemas.openxmlformats.org/drawingml/2006/main">
            <a:off x="609600" y="305752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synthetic listings</a:t>
            </a:r>
          </a:p>
        </p:txBody>
      </p:sp>
      <p:sp>
        <p:nvSpPr>
          <p:cNvPr id="6" name="">
            <a:extLst xmlns:a="http://schemas.openxmlformats.org/drawingml/2006/main">
              <a:ext uri="{FF2B5EF4-FFF2-40B4-BE49-F238E27FC236}">
                <a16:creationId xmlns:a16="http://schemas.microsoft.com/office/drawing/2014/main" id="{DA6E4E0F-0127-42EE-9CFD-BCFC1D4EFD9B}"/>
              </a:ext>
            </a:extLst>
          </p:cNvPr>
          <p:cNvSpPr>
            <a:spLocks xmlns:a="http://schemas.openxmlformats.org/drawingml/2006/main" noGrp="1"/>
          </p:cNvSpPr>
          <p:nvPr/>
        </p:nvSpPr>
        <p:spPr>
          <a:xfrm xmlns:a="http://schemas.openxmlformats.org/drawingml/2006/main">
            <a:off x="4362450" y="191452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6765C"/>
                </a:solidFill>
                <a:latin typeface="DejaVu Sans"/>
                <a:ea typeface="DejaVu Sans"/>
                <a:cs typeface="DejaVu Sans"/>
              </a:defRPr>
            </a:pPr>
            <a:r>
              <a:rPr sz="6150" b="1">
                <a:solidFill>
                  <a:srgbClr val="16765C"/>
                </a:solidFill>
                <a:latin typeface="DejaVu Sans"/>
                <a:ea typeface="DejaVu Sans"/>
                <a:cs typeface="DejaVu Sans"/>
              </a:rPr>
              <a:t>9</a:t>
            </a:r>
          </a:p>
        </p:txBody>
      </p:sp>
      <p:sp>
        <p:nvSpPr>
          <p:cNvPr id="7" name="">
            <a:extLst xmlns:a="http://schemas.openxmlformats.org/drawingml/2006/main">
              <a:ext uri="{FF2B5EF4-FFF2-40B4-BE49-F238E27FC236}">
                <a16:creationId xmlns:a16="http://schemas.microsoft.com/office/drawing/2014/main" id="{06279990-B1BB-4869-9702-5C97FC0EABF9}"/>
              </a:ext>
            </a:extLst>
          </p:cNvPr>
          <p:cNvSpPr>
            <a:spLocks xmlns:a="http://schemas.openxmlformats.org/drawingml/2006/main" noGrp="1"/>
          </p:cNvSpPr>
          <p:nvPr/>
        </p:nvSpPr>
        <p:spPr>
          <a:xfrm xmlns:a="http://schemas.openxmlformats.org/drawingml/2006/main">
            <a:off x="4362450" y="305752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supported item types</a:t>
            </a:r>
          </a:p>
        </p:txBody>
      </p:sp>
      <p:sp>
        <p:nvSpPr>
          <p:cNvPr id="8" name="">
            <a:extLst xmlns:a="http://schemas.openxmlformats.org/drawingml/2006/main">
              <a:ext uri="{FF2B5EF4-FFF2-40B4-BE49-F238E27FC236}">
                <a16:creationId xmlns:a16="http://schemas.microsoft.com/office/drawing/2014/main" id="{6348163E-B17E-4A1E-BB5D-21ED1F8C6218}"/>
              </a:ext>
            </a:extLst>
          </p:cNvPr>
          <p:cNvSpPr>
            <a:spLocks xmlns:a="http://schemas.openxmlformats.org/drawingml/2006/main" noGrp="1"/>
          </p:cNvSpPr>
          <p:nvPr/>
        </p:nvSpPr>
        <p:spPr>
          <a:xfrm xmlns:a="http://schemas.openxmlformats.org/drawingml/2006/main">
            <a:off x="8105775" y="191452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6765C"/>
                </a:solidFill>
                <a:latin typeface="DejaVu Sans"/>
                <a:ea typeface="DejaVu Sans"/>
                <a:cs typeface="DejaVu Sans"/>
              </a:defRPr>
            </a:pPr>
            <a:r>
              <a:rPr sz="6150" b="1">
                <a:solidFill>
                  <a:srgbClr val="16765C"/>
                </a:solidFill>
                <a:latin typeface="DejaVu Sans"/>
                <a:ea typeface="DejaVu Sans"/>
                <a:cs typeface="DejaVu Sans"/>
              </a:rPr>
              <a:t>31</a:t>
            </a:r>
          </a:p>
        </p:txBody>
      </p:sp>
      <p:sp>
        <p:nvSpPr>
          <p:cNvPr id="9" name="">
            <a:extLst xmlns:a="http://schemas.openxmlformats.org/drawingml/2006/main">
              <a:ext uri="{FF2B5EF4-FFF2-40B4-BE49-F238E27FC236}">
                <a16:creationId xmlns:a16="http://schemas.microsoft.com/office/drawing/2014/main" id="{B4D07E08-037F-4037-8EAF-09B1057D980E}"/>
              </a:ext>
            </a:extLst>
          </p:cNvPr>
          <p:cNvSpPr>
            <a:spLocks xmlns:a="http://schemas.openxmlformats.org/drawingml/2006/main" noGrp="1"/>
          </p:cNvSpPr>
          <p:nvPr/>
        </p:nvSpPr>
        <p:spPr>
          <a:xfrm xmlns:a="http://schemas.openxmlformats.org/drawingml/2006/main">
            <a:off x="8105775" y="3057525"/>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automated tests passed</a:t>
            </a:r>
          </a:p>
        </p:txBody>
      </p:sp>
      <p:sp>
        <p:nvSpPr>
          <p:cNvPr id="10" name="">
            <a:extLst xmlns:a="http://schemas.openxmlformats.org/drawingml/2006/main">
              <a:ext uri="{FF2B5EF4-FFF2-40B4-BE49-F238E27FC236}">
                <a16:creationId xmlns:a16="http://schemas.microsoft.com/office/drawing/2014/main" id="{578F86D9-7AD4-4F7C-B28F-97346631AD16}"/>
              </a:ext>
            </a:extLst>
          </p:cNvPr>
          <p:cNvSpPr>
            <a:spLocks xmlns:a="http://schemas.openxmlformats.org/drawingml/2006/main" noGrp="1"/>
          </p:cNvSpPr>
          <p:nvPr/>
        </p:nvSpPr>
        <p:spPr>
          <a:xfrm xmlns:a="http://schemas.openxmlformats.org/drawingml/2006/main">
            <a:off x="609600" y="4124325"/>
            <a:ext cx="10972800" cy="18669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F8BBD8-0BE2-4A3E-8267-EE329EBCA4E0}"/>
              </a:ext>
            </a:extLst>
          </p:cNvPr>
          <p:cNvSpPr>
            <a:spLocks xmlns:a="http://schemas.openxmlformats.org/drawingml/2006/main" noGrp="1"/>
          </p:cNvSpPr>
          <p:nvPr/>
        </p:nvSpPr>
        <p:spPr>
          <a:xfrm xmlns:a="http://schemas.openxmlformats.org/drawingml/2006/main">
            <a:off x="838200" y="42957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1F791"/>
                </a:solidFill>
                <a:latin typeface="DejaVu Sans"/>
                <a:ea typeface="DejaVu Sans"/>
                <a:cs typeface="DejaVu Sans"/>
              </a:defRPr>
            </a:pPr>
            <a:r>
              <a:rPr sz="1500" b="1">
                <a:solidFill>
                  <a:srgbClr val="D1F791"/>
                </a:solidFill>
                <a:latin typeface="DejaVu Sans"/>
                <a:ea typeface="DejaVu Sans"/>
                <a:cs typeface="DejaVu Sans"/>
              </a:rPr>
              <a:t>NEXT: VALIDATE WITH USERS</a:t>
            </a:r>
          </a:p>
        </p:txBody>
      </p:sp>
      <p:sp>
        <p:nvSpPr>
          <p:cNvPr id="12" name="">
            <a:extLst xmlns:a="http://schemas.openxmlformats.org/drawingml/2006/main">
              <a:ext uri="{FF2B5EF4-FFF2-40B4-BE49-F238E27FC236}">
                <a16:creationId xmlns:a16="http://schemas.microsoft.com/office/drawing/2014/main" id="{00B22064-2294-438F-9B21-5B04B08FB5DA}"/>
              </a:ext>
            </a:extLst>
          </p:cNvPr>
          <p:cNvSpPr>
            <a:spLocks xmlns:a="http://schemas.openxmlformats.org/drawingml/2006/main" noGrp="1"/>
          </p:cNvSpPr>
          <p:nvPr/>
        </p:nvSpPr>
        <p:spPr>
          <a:xfrm xmlns:a="http://schemas.openxmlformats.org/drawingml/2006/main">
            <a:off x="838200" y="4838700"/>
            <a:ext cx="10382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Interview campus and school staff. Confirm the visibility gap.</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Label 50 requests and measure useful matches.</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Refine the prototype with mentor feedback.</a:t>
            </a:r>
          </a:p>
        </p:txBody>
      </p:sp>
    </p:spTree>
    <p:extLst>
      <p:ext uri="{BB962C8B-B14F-4D97-AF65-F5344CB8AC3E}">
        <p14:creationId xmlns:p14="http://schemas.microsoft.com/office/powerpoint/2010/main" val="534401751"/>
      </p:ext>
    </p:extLst>
  </p:cSld>
</p:sld>
</file>

<file path=ppt/slides/slide16.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D330A0-A90E-472B-BBFA-680972013CC2}"/>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F936CB43-7BD2-4F48-AFED-220BCC51856D}"/>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From one local demo to an institutional network</a:t>
            </a:r>
          </a:p>
        </p:txBody>
      </p:sp>
      <p:sp>
        <p:nvSpPr>
          <p:cNvPr id="3" name="">
            <a:extLst xmlns:a="http://schemas.openxmlformats.org/drawingml/2006/main">
              <a:ext uri="{FF2B5EF4-FFF2-40B4-BE49-F238E27FC236}">
                <a16:creationId xmlns:a16="http://schemas.microsoft.com/office/drawing/2014/main" id="{B5EF7E6E-D96E-402B-962A-751BEECA9491}"/>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16</a:t>
            </a:r>
          </a:p>
        </p:txBody>
      </p:sp>
      <p:sp>
        <p:nvSpPr>
          <p:cNvPr id="4" name="">
            <a:extLst xmlns:a="http://schemas.openxmlformats.org/drawingml/2006/main">
              <a:ext uri="{FF2B5EF4-FFF2-40B4-BE49-F238E27FC236}">
                <a16:creationId xmlns:a16="http://schemas.microsoft.com/office/drawing/2014/main" id="{01C74349-E1FB-4B84-907E-86A44DF6589A}"/>
              </a:ext>
            </a:extLst>
          </p:cNvPr>
          <p:cNvSpPr>
            <a:spLocks xmlns:a="http://schemas.openxmlformats.org/drawingml/2006/main" noGrp="1"/>
          </p:cNvSpPr>
          <p:nvPr/>
        </p:nvSpPr>
        <p:spPr>
          <a:xfrm xmlns:a="http://schemas.openxmlformats.org/drawingml/2006/main">
            <a:off x="609600" y="2171700"/>
            <a:ext cx="3476625" cy="2819400"/>
          </a:xfrm>
          <a:prstGeom xmlns:a="http://schemas.openxmlformats.org/drawingml/2006/main" prst="rect">
            <a:avLst/>
          </a:prstGeom>
          <a:solidFill xmlns:a="http://schemas.openxmlformats.org/drawingml/2006/main">
            <a:srgbClr val="102E2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807EDD8-4C6D-49A3-8D22-D352EA65CB3E}"/>
              </a:ext>
            </a:extLst>
          </p:cNvPr>
          <p:cNvSpPr>
            <a:spLocks xmlns:a="http://schemas.openxmlformats.org/drawingml/2006/main" noGrp="1"/>
          </p:cNvSpPr>
          <p:nvPr/>
        </p:nvSpPr>
        <p:spPr>
          <a:xfrm xmlns:a="http://schemas.openxmlformats.org/drawingml/2006/main">
            <a:off x="819150" y="236220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NOW</a:t>
            </a:r>
          </a:p>
        </p:txBody>
      </p:sp>
      <p:sp>
        <p:nvSpPr>
          <p:cNvPr id="6" name="">
            <a:extLst xmlns:a="http://schemas.openxmlformats.org/drawingml/2006/main">
              <a:ext uri="{FF2B5EF4-FFF2-40B4-BE49-F238E27FC236}">
                <a16:creationId xmlns:a16="http://schemas.microsoft.com/office/drawing/2014/main" id="{439F3D95-3250-4D43-B78C-66FE4FB9D583}"/>
              </a:ext>
            </a:extLst>
          </p:cNvPr>
          <p:cNvSpPr>
            <a:spLocks xmlns:a="http://schemas.openxmlformats.org/drawingml/2006/main" noGrp="1"/>
          </p:cNvSpPr>
          <p:nvPr/>
        </p:nvSpPr>
        <p:spPr>
          <a:xfrm xmlns:a="http://schemas.openxmlformats.org/drawingml/2006/main">
            <a:off x="819150" y="2867025"/>
            <a:ext cx="3057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Local prototype</a:t>
            </a:r>
          </a:p>
        </p:txBody>
      </p:sp>
      <p:sp>
        <p:nvSpPr>
          <p:cNvPr id="7" name="">
            <a:extLst xmlns:a="http://schemas.openxmlformats.org/drawingml/2006/main">
              <a:ext uri="{FF2B5EF4-FFF2-40B4-BE49-F238E27FC236}">
                <a16:creationId xmlns:a16="http://schemas.microsoft.com/office/drawing/2014/main" id="{6CFD212B-B8C1-4348-9954-A563B949DB69}"/>
              </a:ext>
            </a:extLst>
          </p:cNvPr>
          <p:cNvSpPr>
            <a:spLocks xmlns:a="http://schemas.openxmlformats.org/drawingml/2006/main" noGrp="1"/>
          </p:cNvSpPr>
          <p:nvPr/>
        </p:nvSpPr>
        <p:spPr>
          <a:xfrm xmlns:a="http://schemas.openxmlformats.org/drawingml/2006/main">
            <a:off x="819150" y="3581400"/>
            <a:ext cx="3057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Single user</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Synthetic partners</a:t>
            </a:r>
          </a:p>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JSON stock ledger</a:t>
            </a:r>
          </a:p>
        </p:txBody>
      </p:sp>
      <p:sp>
        <p:nvSpPr>
          <p:cNvPr id="8" name="">
            <a:extLst xmlns:a="http://schemas.openxmlformats.org/drawingml/2006/main">
              <a:ext uri="{FF2B5EF4-FFF2-40B4-BE49-F238E27FC236}">
                <a16:creationId xmlns:a16="http://schemas.microsoft.com/office/drawing/2014/main" id="{8832CDBD-7B1D-44CA-8E49-514FD075DA5E}"/>
              </a:ext>
            </a:extLst>
          </p:cNvPr>
          <p:cNvSpPr>
            <a:spLocks xmlns:a="http://schemas.openxmlformats.org/drawingml/2006/main" noGrp="1"/>
          </p:cNvSpPr>
          <p:nvPr/>
        </p:nvSpPr>
        <p:spPr>
          <a:xfrm xmlns:a="http://schemas.openxmlformats.org/drawingml/2006/main">
            <a:off x="4362450" y="2647950"/>
            <a:ext cx="3476625" cy="2819400"/>
          </a:xfrm>
          <a:prstGeom xmlns:a="http://schemas.openxmlformats.org/drawingml/2006/main" prst="rect">
            <a:avLst/>
          </a:prstGeom>
          <a:solidFill xmlns:a="http://schemas.openxmlformats.org/drawingml/2006/main">
            <a:srgbClr val="E6EE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34D40E-F6BB-4A18-8BC5-6F92AAD3BF8F}"/>
              </a:ext>
            </a:extLst>
          </p:cNvPr>
          <p:cNvSpPr>
            <a:spLocks xmlns:a="http://schemas.openxmlformats.org/drawingml/2006/main" noGrp="1"/>
          </p:cNvSpPr>
          <p:nvPr/>
        </p:nvSpPr>
        <p:spPr>
          <a:xfrm xmlns:a="http://schemas.openxmlformats.org/drawingml/2006/main">
            <a:off x="4572000" y="283845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02E2A"/>
                </a:solidFill>
                <a:latin typeface="DejaVu Sans"/>
                <a:ea typeface="DejaVu Sans"/>
                <a:cs typeface="DejaVu Sans"/>
              </a:defRPr>
            </a:pPr>
            <a:r>
              <a:rPr sz="1350" b="1">
                <a:solidFill>
                  <a:srgbClr val="102E2A"/>
                </a:solidFill>
                <a:latin typeface="DejaVu Sans"/>
                <a:ea typeface="DejaVu Sans"/>
                <a:cs typeface="DejaVu Sans"/>
              </a:rPr>
              <a:t>PILOT</a:t>
            </a:r>
          </a:p>
        </p:txBody>
      </p:sp>
      <p:sp>
        <p:nvSpPr>
          <p:cNvPr id="10" name="">
            <a:extLst xmlns:a="http://schemas.openxmlformats.org/drawingml/2006/main">
              <a:ext uri="{FF2B5EF4-FFF2-40B4-BE49-F238E27FC236}">
                <a16:creationId xmlns:a16="http://schemas.microsoft.com/office/drawing/2014/main" id="{6520767C-A124-46BF-B50D-D10D2AD437A7}"/>
              </a:ext>
            </a:extLst>
          </p:cNvPr>
          <p:cNvSpPr>
            <a:spLocks xmlns:a="http://schemas.openxmlformats.org/drawingml/2006/main" noGrp="1"/>
          </p:cNvSpPr>
          <p:nvPr/>
        </p:nvSpPr>
        <p:spPr>
          <a:xfrm xmlns:a="http://schemas.openxmlformats.org/drawingml/2006/main">
            <a:off x="4572000" y="3343275"/>
            <a:ext cx="3057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2A"/>
                </a:solidFill>
                <a:latin typeface="DejaVu Sans"/>
                <a:ea typeface="DejaVu Sans"/>
                <a:cs typeface="DejaVu Sans"/>
              </a:defRPr>
            </a:pPr>
            <a:r>
              <a:rPr sz="2175" b="1">
                <a:solidFill>
                  <a:srgbClr val="102E2A"/>
                </a:solidFill>
                <a:latin typeface="DejaVu Sans"/>
                <a:ea typeface="DejaVu Sans"/>
                <a:cs typeface="DejaVu Sans"/>
              </a:rPr>
              <a:t>Campus + school</a:t>
            </a:r>
          </a:p>
        </p:txBody>
      </p:sp>
      <p:sp>
        <p:nvSpPr>
          <p:cNvPr id="11" name="">
            <a:extLst xmlns:a="http://schemas.openxmlformats.org/drawingml/2006/main">
              <a:ext uri="{FF2B5EF4-FFF2-40B4-BE49-F238E27FC236}">
                <a16:creationId xmlns:a16="http://schemas.microsoft.com/office/drawing/2014/main" id="{1CDD2F90-6842-435C-8587-5A13B99D218C}"/>
              </a:ext>
            </a:extLst>
          </p:cNvPr>
          <p:cNvSpPr>
            <a:spLocks xmlns:a="http://schemas.openxmlformats.org/drawingml/2006/main" noGrp="1"/>
          </p:cNvSpPr>
          <p:nvPr/>
        </p:nvSpPr>
        <p:spPr>
          <a:xfrm xmlns:a="http://schemas.openxmlformats.org/drawingml/2006/main">
            <a:off x="4572000" y="4057650"/>
            <a:ext cx="3057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Verified stock</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Partner agreements</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Human transfer review</a:t>
            </a:r>
          </a:p>
        </p:txBody>
      </p:sp>
      <p:sp>
        <p:nvSpPr>
          <p:cNvPr id="12" name="">
            <a:extLst xmlns:a="http://schemas.openxmlformats.org/drawingml/2006/main">
              <a:ext uri="{FF2B5EF4-FFF2-40B4-BE49-F238E27FC236}">
                <a16:creationId xmlns:a16="http://schemas.microsoft.com/office/drawing/2014/main" id="{612335D9-CECA-4B8D-BA64-8A11D1FB235D}"/>
              </a:ext>
            </a:extLst>
          </p:cNvPr>
          <p:cNvSpPr>
            <a:spLocks xmlns:a="http://schemas.openxmlformats.org/drawingml/2006/main" noGrp="1"/>
          </p:cNvSpPr>
          <p:nvPr/>
        </p:nvSpPr>
        <p:spPr>
          <a:xfrm xmlns:a="http://schemas.openxmlformats.org/drawingml/2006/main">
            <a:off x="8105775" y="3124200"/>
            <a:ext cx="3476625" cy="2819400"/>
          </a:xfrm>
          <a:prstGeom xmlns:a="http://schemas.openxmlformats.org/drawingml/2006/main" prst="rect">
            <a:avLst/>
          </a:prstGeom>
          <a:solidFill xmlns:a="http://schemas.openxmlformats.org/drawingml/2006/main">
            <a:srgbClr val="D1F7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D8BEAE-9149-41CE-A4D6-7D289F38B83E}"/>
              </a:ext>
            </a:extLst>
          </p:cNvPr>
          <p:cNvSpPr>
            <a:spLocks xmlns:a="http://schemas.openxmlformats.org/drawingml/2006/main" noGrp="1"/>
          </p:cNvSpPr>
          <p:nvPr/>
        </p:nvSpPr>
        <p:spPr>
          <a:xfrm xmlns:a="http://schemas.openxmlformats.org/drawingml/2006/main">
            <a:off x="8315325" y="3314700"/>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02E2A"/>
                </a:solidFill>
                <a:latin typeface="DejaVu Sans"/>
                <a:ea typeface="DejaVu Sans"/>
                <a:cs typeface="DejaVu Sans"/>
              </a:defRPr>
            </a:pPr>
            <a:r>
              <a:rPr sz="1350" b="1">
                <a:solidFill>
                  <a:srgbClr val="102E2A"/>
                </a:solidFill>
                <a:latin typeface="DejaVu Sans"/>
                <a:ea typeface="DejaVu Sans"/>
                <a:cs typeface="DejaVu Sans"/>
              </a:rPr>
              <a:t>SCALE</a:t>
            </a:r>
          </a:p>
        </p:txBody>
      </p:sp>
      <p:sp>
        <p:nvSpPr>
          <p:cNvPr id="14" name="">
            <a:extLst xmlns:a="http://schemas.openxmlformats.org/drawingml/2006/main">
              <a:ext uri="{FF2B5EF4-FFF2-40B4-BE49-F238E27FC236}">
                <a16:creationId xmlns:a16="http://schemas.microsoft.com/office/drawing/2014/main" id="{4D9D1F28-8B72-48AF-AE7C-6C8BC60EBEF2}"/>
              </a:ext>
            </a:extLst>
          </p:cNvPr>
          <p:cNvSpPr>
            <a:spLocks xmlns:a="http://schemas.openxmlformats.org/drawingml/2006/main" noGrp="1"/>
          </p:cNvSpPr>
          <p:nvPr/>
        </p:nvSpPr>
        <p:spPr>
          <a:xfrm xmlns:a="http://schemas.openxmlformats.org/drawingml/2006/main">
            <a:off x="8315325" y="3819525"/>
            <a:ext cx="3057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E2A"/>
                </a:solidFill>
                <a:latin typeface="DejaVu Sans"/>
                <a:ea typeface="DejaVu Sans"/>
                <a:cs typeface="DejaVu Sans"/>
              </a:defRPr>
            </a:pPr>
            <a:r>
              <a:rPr sz="2175" b="1">
                <a:solidFill>
                  <a:srgbClr val="102E2A"/>
                </a:solidFill>
                <a:latin typeface="DejaVu Sans"/>
                <a:ea typeface="DejaVu Sans"/>
                <a:cs typeface="DejaVu Sans"/>
              </a:rPr>
              <a:t>Shared network</a:t>
            </a:r>
          </a:p>
        </p:txBody>
      </p:sp>
      <p:sp>
        <p:nvSpPr>
          <p:cNvPr id="15" name="">
            <a:extLst xmlns:a="http://schemas.openxmlformats.org/drawingml/2006/main">
              <a:ext uri="{FF2B5EF4-FFF2-40B4-BE49-F238E27FC236}">
                <a16:creationId xmlns:a16="http://schemas.microsoft.com/office/drawing/2014/main" id="{B091F192-818A-49EF-B299-6A6B5CFE5D44}"/>
              </a:ext>
            </a:extLst>
          </p:cNvPr>
          <p:cNvSpPr>
            <a:spLocks xmlns:a="http://schemas.openxmlformats.org/drawingml/2006/main" noGrp="1"/>
          </p:cNvSpPr>
          <p:nvPr/>
        </p:nvSpPr>
        <p:spPr>
          <a:xfrm xmlns:a="http://schemas.openxmlformats.org/drawingml/2006/main">
            <a:off x="8315325" y="4533900"/>
            <a:ext cx="3057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Transactional database</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Roles and reservations</a:t>
            </a:r>
          </a:p>
          <a:p xmlns:a="http://schemas.openxmlformats.org/drawingml/2006/main">
            <a:pPr>
              <a:defRPr sz="1875" b="0">
                <a:solidFill>
                  <a:srgbClr val="102E2A"/>
                </a:solidFill>
                <a:latin typeface="DejaVu Sans"/>
                <a:ea typeface="DejaVu Sans"/>
                <a:cs typeface="DejaVu Sans"/>
              </a:defRPr>
            </a:pPr>
            <a:r>
              <a:rPr sz="1875" b="0">
                <a:solidFill>
                  <a:srgbClr val="102E2A"/>
                </a:solidFill>
                <a:latin typeface="DejaVu Sans"/>
                <a:ea typeface="DejaVu Sans"/>
                <a:cs typeface="DejaVu Sans"/>
              </a:rPr>
              <a:t>Procurement integration</a:t>
            </a:r>
          </a:p>
        </p:txBody>
      </p:sp>
    </p:spTree>
    <p:extLst>
      <p:ext uri="{BB962C8B-B14F-4D97-AF65-F5344CB8AC3E}">
        <p14:creationId xmlns:p14="http://schemas.microsoft.com/office/powerpoint/2010/main" val="1857692194"/>
      </p:ext>
    </p:extLst>
  </p:cSld>
</p:sld>
</file>

<file path=ppt/slides/slide17.xml><?xml version="1.0" encoding="utf-8"?>
<p:sld xmlns:p="http://schemas.openxmlformats.org/presentationml/2006/main">
  <p:cSld>
    <p:bg>
      <p:bgPr>
        <a:solidFill xmlns:a="http://schemas.openxmlformats.org/drawingml/2006/main">
          <a:srgbClr val="FAFA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A614108-A08B-4CFC-88C0-2D71214C58F9}"/>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765C"/>
                </a:solidFill>
                <a:latin typeface="DejaVu Sans"/>
                <a:ea typeface="DejaVu Sans"/>
                <a:cs typeface="DejaVu Sans"/>
              </a:defRPr>
            </a:pPr>
            <a:r>
              <a:rPr sz="1200" b="1">
                <a:solidFill>
                  <a:srgbClr val="16765C"/>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E0618029-22FC-43BB-8418-F7A27D433C66}"/>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E2A"/>
                </a:solidFill>
                <a:latin typeface="DejaVu Sans"/>
                <a:ea typeface="DejaVu Sans"/>
                <a:cs typeface="DejaVu Sans"/>
              </a:defRPr>
            </a:pPr>
            <a:r>
              <a:rPr sz="3225" b="1">
                <a:solidFill>
                  <a:srgbClr val="102E2A"/>
                </a:solidFill>
                <a:latin typeface="DejaVu Sans"/>
                <a:ea typeface="DejaVu Sans"/>
                <a:cs typeface="DejaVu Sans"/>
              </a:rPr>
              <a:t>Impact means equipment that stays useful</a:t>
            </a:r>
          </a:p>
        </p:txBody>
      </p:sp>
      <p:sp>
        <p:nvSpPr>
          <p:cNvPr id="3" name="">
            <a:extLst xmlns:a="http://schemas.openxmlformats.org/drawingml/2006/main">
              <a:ext uri="{FF2B5EF4-FFF2-40B4-BE49-F238E27FC236}">
                <a16:creationId xmlns:a16="http://schemas.microsoft.com/office/drawing/2014/main" id="{A9D054D2-3545-4FDA-886E-47AB6E965AB1}"/>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D65"/>
                </a:solidFill>
                <a:latin typeface="DejaVu Sans"/>
                <a:ea typeface="DejaVu Sans"/>
                <a:cs typeface="DejaVu Sans"/>
              </a:defRPr>
            </a:pPr>
            <a:r>
              <a:rPr sz="1275" b="0">
                <a:solidFill>
                  <a:srgbClr val="586D65"/>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6E9F49FA-859F-4EDA-874F-F062D39D993C}"/>
              </a:ext>
            </a:extLst>
          </p:cNvPr>
          <p:cNvSpPr>
            <a:spLocks xmlns:a="http://schemas.openxmlformats.org/drawingml/2006/main" noGrp="1"/>
          </p:cNvSpPr>
          <p:nvPr/>
        </p:nvSpPr>
        <p:spPr>
          <a:xfrm xmlns:a="http://schemas.openxmlformats.org/drawingml/2006/main">
            <a:off x="609600" y="1943100"/>
            <a:ext cx="381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325" b="1">
                <a:solidFill>
                  <a:srgbClr val="16765C"/>
                </a:solidFill>
                <a:latin typeface="DejaVu Sans"/>
                <a:ea typeface="DejaVu Sans"/>
                <a:cs typeface="DejaVu Sans"/>
              </a:defRPr>
            </a:pPr>
            <a:r>
              <a:rPr sz="8325" b="1">
                <a:solidFill>
                  <a:srgbClr val="16765C"/>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F6A456E2-9B59-4D4A-ABA7-EB0767C7B947}"/>
              </a:ext>
            </a:extLst>
          </p:cNvPr>
          <p:cNvSpPr>
            <a:spLocks xmlns:a="http://schemas.openxmlformats.org/drawingml/2006/main" noGrp="1"/>
          </p:cNvSpPr>
          <p:nvPr/>
        </p:nvSpPr>
        <p:spPr>
          <a:xfrm xmlns:a="http://schemas.openxmlformats.org/drawingml/2006/main">
            <a:off x="609600" y="3495675"/>
            <a:ext cx="4191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E2A"/>
                </a:solidFill>
                <a:latin typeface="DejaVu Sans"/>
                <a:ea typeface="DejaVu Sans"/>
                <a:cs typeface="DejaVu Sans"/>
              </a:defRPr>
            </a:pPr>
            <a:r>
              <a:rPr sz="2475" b="1">
                <a:solidFill>
                  <a:srgbClr val="102E2A"/>
                </a:solidFill>
                <a:latin typeface="DejaVu Sans"/>
                <a:ea typeface="DejaVu Sans"/>
                <a:cs typeface="DejaVu Sans"/>
              </a:rPr>
              <a:t>accepted transfers</a:t>
            </a:r>
          </a:p>
        </p:txBody>
      </p:sp>
      <p:sp>
        <p:nvSpPr>
          <p:cNvPr id="6" name="">
            <a:extLst xmlns:a="http://schemas.openxmlformats.org/drawingml/2006/main">
              <a:ext uri="{FF2B5EF4-FFF2-40B4-BE49-F238E27FC236}">
                <a16:creationId xmlns:a16="http://schemas.microsoft.com/office/drawing/2014/main" id="{7E4F79E7-0D7B-4CF2-B3F4-877C1176BDB7}"/>
              </a:ext>
            </a:extLst>
          </p:cNvPr>
          <p:cNvSpPr>
            <a:spLocks xmlns:a="http://schemas.openxmlformats.org/drawingml/2006/main" noGrp="1"/>
          </p:cNvSpPr>
          <p:nvPr/>
        </p:nvSpPr>
        <p:spPr>
          <a:xfrm xmlns:a="http://schemas.openxmlformats.org/drawingml/2006/main">
            <a:off x="609600" y="4276725"/>
            <a:ext cx="419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D65"/>
                </a:solidFill>
                <a:latin typeface="DejaVu Sans"/>
                <a:ea typeface="DejaVu Sans"/>
                <a:cs typeface="DejaVu Sans"/>
              </a:defRPr>
            </a:pPr>
            <a:r>
              <a:rPr sz="1800" b="0">
                <a:solidFill>
                  <a:srgbClr val="586D65"/>
                </a:solidFill>
                <a:latin typeface="DejaVu Sans"/>
                <a:ea typeface="DejaVu Sans"/>
                <a:cs typeface="DejaVu Sans"/>
              </a:rPr>
              <a:t>Proposed pilot target</a:t>
            </a:r>
          </a:p>
        </p:txBody>
      </p:sp>
      <p:sp>
        <p:nvSpPr>
          <p:cNvPr id="7" name="">
            <a:extLst xmlns:a="http://schemas.openxmlformats.org/drawingml/2006/main">
              <a:ext uri="{FF2B5EF4-FFF2-40B4-BE49-F238E27FC236}">
                <a16:creationId xmlns:a16="http://schemas.microsoft.com/office/drawing/2014/main" id="{DE40A48C-910E-48A1-9660-F41E6AC654CA}"/>
              </a:ext>
            </a:extLst>
          </p:cNvPr>
          <p:cNvSpPr>
            <a:spLocks xmlns:a="http://schemas.openxmlformats.org/drawingml/2006/main" noGrp="1"/>
          </p:cNvSpPr>
          <p:nvPr/>
        </p:nvSpPr>
        <p:spPr>
          <a:xfrm xmlns:a="http://schemas.openxmlformats.org/drawingml/2006/main">
            <a:off x="609600" y="511492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765C"/>
                </a:solidFill>
                <a:latin typeface="DejaVu Sans"/>
                <a:ea typeface="DejaVu Sans"/>
                <a:cs typeface="DejaVu Sans"/>
              </a:defRPr>
            </a:pPr>
            <a:r>
              <a:rPr sz="2850" b="1">
                <a:solidFill>
                  <a:srgbClr val="16765C"/>
                </a:solidFill>
                <a:latin typeface="DejaVu Sans"/>
                <a:ea typeface="DejaVu Sans"/>
                <a:cs typeface="DejaVu Sans"/>
              </a:rPr>
              <a:t>30 / 90 days</a:t>
            </a:r>
          </a:p>
        </p:txBody>
      </p:sp>
      <p:sp>
        <p:nvSpPr>
          <p:cNvPr id="8" name="">
            <a:extLst xmlns:a="http://schemas.openxmlformats.org/drawingml/2006/main">
              <a:ext uri="{FF2B5EF4-FFF2-40B4-BE49-F238E27FC236}">
                <a16:creationId xmlns:a16="http://schemas.microsoft.com/office/drawing/2014/main" id="{28BC3ACB-D272-4867-8845-262BBEDA27FE}"/>
              </a:ext>
            </a:extLst>
          </p:cNvPr>
          <p:cNvSpPr>
            <a:spLocks xmlns:a="http://schemas.openxmlformats.org/drawingml/2006/main" noGrp="1"/>
          </p:cNvSpPr>
          <p:nvPr/>
        </p:nvSpPr>
        <p:spPr>
          <a:xfrm xmlns:a="http://schemas.openxmlformats.org/drawingml/2006/main">
            <a:off x="609600" y="580072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02E2A"/>
                </a:solidFill>
                <a:latin typeface="DejaVu Sans"/>
                <a:ea typeface="DejaVu Sans"/>
                <a:cs typeface="DejaVu Sans"/>
              </a:defRPr>
            </a:pPr>
            <a:r>
              <a:rPr sz="1800" b="0">
                <a:solidFill>
                  <a:srgbClr val="102E2A"/>
                </a:solidFill>
                <a:latin typeface="DejaVu Sans"/>
                <a:ea typeface="DejaVu Sans"/>
                <a:cs typeface="DejaVu Sans"/>
              </a:rPr>
              <a:t>Continued-use checks</a:t>
            </a:r>
          </a:p>
        </p:txBody>
      </p:sp>
      <p:sp>
        <p:nvSpPr>
          <p:cNvPr id="9" name="">
            <a:extLst xmlns:a="http://schemas.openxmlformats.org/drawingml/2006/main">
              <a:ext uri="{FF2B5EF4-FFF2-40B4-BE49-F238E27FC236}">
                <a16:creationId xmlns:a16="http://schemas.microsoft.com/office/drawing/2014/main" id="{5035EC3A-2EE9-4324-8D40-74BC61DCF829}"/>
              </a:ext>
            </a:extLst>
          </p:cNvPr>
          <p:cNvSpPr>
            <a:spLocks xmlns:a="http://schemas.openxmlformats.org/drawingml/2006/main" noGrp="1"/>
          </p:cNvSpPr>
          <p:nvPr/>
        </p:nvSpPr>
        <p:spPr>
          <a:xfrm xmlns:a="http://schemas.openxmlformats.org/drawingml/2006/main">
            <a:off x="5762625" y="2066925"/>
            <a:ext cx="581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65C"/>
                </a:solidFill>
                <a:latin typeface="DejaVu Sans"/>
                <a:ea typeface="DejaVu Sans"/>
                <a:cs typeface="DejaVu Sans"/>
              </a:defRPr>
            </a:pPr>
            <a:r>
              <a:rPr sz="2250" b="1">
                <a:solidFill>
                  <a:srgbClr val="16765C"/>
                </a:solidFill>
                <a:latin typeface="DejaVu Sans"/>
                <a:ea typeface="DejaVu Sans"/>
                <a:cs typeface="DejaVu Sans"/>
              </a:rPr>
              <a:t>Environment</a:t>
            </a:r>
          </a:p>
        </p:txBody>
      </p:sp>
      <p:sp>
        <p:nvSpPr>
          <p:cNvPr id="10" name="">
            <a:extLst xmlns:a="http://schemas.openxmlformats.org/drawingml/2006/main">
              <a:ext uri="{FF2B5EF4-FFF2-40B4-BE49-F238E27FC236}">
                <a16:creationId xmlns:a16="http://schemas.microsoft.com/office/drawing/2014/main" id="{2AC945D4-121C-45BF-990E-69E4A7468C33}"/>
              </a:ext>
            </a:extLst>
          </p:cNvPr>
          <p:cNvSpPr>
            <a:spLocks xmlns:a="http://schemas.openxmlformats.org/drawingml/2006/main" noGrp="1"/>
          </p:cNvSpPr>
          <p:nvPr/>
        </p:nvSpPr>
        <p:spPr>
          <a:xfrm xmlns:a="http://schemas.openxmlformats.org/drawingml/2006/main">
            <a:off x="5762625" y="2619375"/>
            <a:ext cx="58197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E2A"/>
                </a:solidFill>
                <a:latin typeface="DejaVu Sans"/>
                <a:ea typeface="DejaVu Sans"/>
                <a:cs typeface="DejaVu Sans"/>
              </a:defRPr>
            </a:pPr>
            <a:r>
              <a:rPr sz="1950" b="0">
                <a:solidFill>
                  <a:srgbClr val="102E2A"/>
                </a:solidFill>
                <a:latin typeface="DejaVu Sans"/>
                <a:ea typeface="DejaVu Sans"/>
                <a:cs typeface="DejaVu Sans"/>
              </a:rPr>
              <a:t>Extend item life and avoid some new purchases.</a:t>
            </a:r>
          </a:p>
        </p:txBody>
      </p:sp>
      <p:sp>
        <p:nvSpPr>
          <p:cNvPr id="11" name="">
            <a:extLst xmlns:a="http://schemas.openxmlformats.org/drawingml/2006/main">
              <a:ext uri="{FF2B5EF4-FFF2-40B4-BE49-F238E27FC236}">
                <a16:creationId xmlns:a16="http://schemas.microsoft.com/office/drawing/2014/main" id="{A14029C1-0BD3-41F2-8F61-007BC47294D7}"/>
              </a:ext>
            </a:extLst>
          </p:cNvPr>
          <p:cNvSpPr>
            <a:spLocks xmlns:a="http://schemas.openxmlformats.org/drawingml/2006/main" noGrp="1"/>
          </p:cNvSpPr>
          <p:nvPr/>
        </p:nvSpPr>
        <p:spPr>
          <a:xfrm xmlns:a="http://schemas.openxmlformats.org/drawingml/2006/main">
            <a:off x="5762625" y="3390900"/>
            <a:ext cx="581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65C"/>
                </a:solidFill>
                <a:latin typeface="DejaVu Sans"/>
                <a:ea typeface="DejaVu Sans"/>
                <a:cs typeface="DejaVu Sans"/>
              </a:defRPr>
            </a:pPr>
            <a:r>
              <a:rPr sz="2250" b="1">
                <a:solidFill>
                  <a:srgbClr val="16765C"/>
                </a:solidFill>
                <a:latin typeface="DejaVu Sans"/>
                <a:ea typeface="DejaVu Sans"/>
                <a:cs typeface="DejaVu Sans"/>
              </a:rPr>
              <a:t>Education</a:t>
            </a:r>
          </a:p>
        </p:txBody>
      </p:sp>
      <p:sp>
        <p:nvSpPr>
          <p:cNvPr id="12" name="">
            <a:extLst xmlns:a="http://schemas.openxmlformats.org/drawingml/2006/main">
              <a:ext uri="{FF2B5EF4-FFF2-40B4-BE49-F238E27FC236}">
                <a16:creationId xmlns:a16="http://schemas.microsoft.com/office/drawing/2014/main" id="{32A89FD7-8C1B-4E59-91CB-6D964E8BA4B8}"/>
              </a:ext>
            </a:extLst>
          </p:cNvPr>
          <p:cNvSpPr>
            <a:spLocks xmlns:a="http://schemas.openxmlformats.org/drawingml/2006/main" noGrp="1"/>
          </p:cNvSpPr>
          <p:nvPr/>
        </p:nvSpPr>
        <p:spPr>
          <a:xfrm xmlns:a="http://schemas.openxmlformats.org/drawingml/2006/main">
            <a:off x="5762625" y="3943350"/>
            <a:ext cx="58197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E2A"/>
                </a:solidFill>
                <a:latin typeface="DejaVu Sans"/>
                <a:ea typeface="DejaVu Sans"/>
                <a:cs typeface="DejaVu Sans"/>
              </a:defRPr>
            </a:pPr>
            <a:r>
              <a:rPr sz="1950" b="0">
                <a:solidFill>
                  <a:srgbClr val="102E2A"/>
                </a:solidFill>
                <a:latin typeface="DejaVu Sans"/>
                <a:ea typeface="DejaVu Sans"/>
                <a:cs typeface="DejaVu Sans"/>
              </a:rPr>
              <a:t>Supply usable equipment to learning spaces.</a:t>
            </a:r>
          </a:p>
        </p:txBody>
      </p:sp>
      <p:sp>
        <p:nvSpPr>
          <p:cNvPr id="13" name="">
            <a:extLst xmlns:a="http://schemas.openxmlformats.org/drawingml/2006/main">
              <a:ext uri="{FF2B5EF4-FFF2-40B4-BE49-F238E27FC236}">
                <a16:creationId xmlns:a16="http://schemas.microsoft.com/office/drawing/2014/main" id="{8AD39643-730E-4F9E-B802-2B249847C4A8}"/>
              </a:ext>
            </a:extLst>
          </p:cNvPr>
          <p:cNvSpPr>
            <a:spLocks xmlns:a="http://schemas.openxmlformats.org/drawingml/2006/main" noGrp="1"/>
          </p:cNvSpPr>
          <p:nvPr/>
        </p:nvSpPr>
        <p:spPr>
          <a:xfrm xmlns:a="http://schemas.openxmlformats.org/drawingml/2006/main">
            <a:off x="5762625" y="4714875"/>
            <a:ext cx="5819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65C"/>
                </a:solidFill>
                <a:latin typeface="DejaVu Sans"/>
                <a:ea typeface="DejaVu Sans"/>
                <a:cs typeface="DejaVu Sans"/>
              </a:defRPr>
            </a:pPr>
            <a:r>
              <a:rPr sz="2250" b="1">
                <a:solidFill>
                  <a:srgbClr val="16765C"/>
                </a:solidFill>
                <a:latin typeface="DejaVu Sans"/>
                <a:ea typeface="DejaVu Sans"/>
                <a:cs typeface="DejaVu Sans"/>
              </a:rPr>
              <a:t>Institutions</a:t>
            </a:r>
          </a:p>
        </p:txBody>
      </p:sp>
      <p:sp>
        <p:nvSpPr>
          <p:cNvPr id="14" name="">
            <a:extLst xmlns:a="http://schemas.openxmlformats.org/drawingml/2006/main">
              <a:ext uri="{FF2B5EF4-FFF2-40B4-BE49-F238E27FC236}">
                <a16:creationId xmlns:a16="http://schemas.microsoft.com/office/drawing/2014/main" id="{FF126B6A-3020-42A0-9D2E-043078B3F2F8}"/>
              </a:ext>
            </a:extLst>
          </p:cNvPr>
          <p:cNvSpPr>
            <a:spLocks xmlns:a="http://schemas.openxmlformats.org/drawingml/2006/main" noGrp="1"/>
          </p:cNvSpPr>
          <p:nvPr/>
        </p:nvSpPr>
        <p:spPr>
          <a:xfrm xmlns:a="http://schemas.openxmlformats.org/drawingml/2006/main">
            <a:off x="5762625" y="5267325"/>
            <a:ext cx="58197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E2A"/>
                </a:solidFill>
                <a:latin typeface="DejaVu Sans"/>
                <a:ea typeface="DejaVu Sans"/>
                <a:cs typeface="DejaVu Sans"/>
              </a:defRPr>
            </a:pPr>
            <a:r>
              <a:rPr sz="1950" b="0">
                <a:solidFill>
                  <a:srgbClr val="102E2A"/>
                </a:solidFill>
                <a:latin typeface="DejaVu Sans"/>
                <a:ea typeface="DejaVu Sans"/>
                <a:cs typeface="DejaVu Sans"/>
              </a:rPr>
              <a:t>Build a repeatable sharing process.</a:t>
            </a:r>
          </a:p>
        </p:txBody>
      </p:sp>
    </p:spTree>
    <p:extLst>
      <p:ext uri="{BB962C8B-B14F-4D97-AF65-F5344CB8AC3E}">
        <p14:creationId xmlns:p14="http://schemas.microsoft.com/office/powerpoint/2010/main" val="1203862737"/>
      </p:ext>
    </p:extLst>
  </p:cSld>
</p:sld>
</file>

<file path=ppt/slides/slide18.xml><?xml version="1.0" encoding="utf-8"?>
<p:sld xmlns:p="http://schemas.openxmlformats.org/presentationml/2006/main">
  <p:cSld>
    <p:bg>
      <p:bgPr>
        <a:solidFill xmlns:a="http://schemas.openxmlformats.org/drawingml/2006/main">
          <a:srgbClr val="102E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53BF93-83E8-4EFB-9AF3-F66577AFD8E0}"/>
              </a:ext>
            </a:extLst>
          </p:cNvPr>
          <p:cNvSpPr>
            <a:spLocks xmlns:a="http://schemas.openxmlformats.org/drawingml/2006/main" noGrp="1"/>
          </p:cNvSpPr>
          <p:nvPr/>
        </p:nvSpPr>
        <p:spPr>
          <a:xfrm xmlns:a="http://schemas.openxmlformats.org/drawingml/2006/main">
            <a:off x="609600" y="2571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1F791"/>
                </a:solidFill>
                <a:latin typeface="DejaVu Sans"/>
                <a:ea typeface="DejaVu Sans"/>
                <a:cs typeface="DejaVu Sans"/>
              </a:defRPr>
            </a:pPr>
            <a:r>
              <a:rPr sz="1200" b="1">
                <a:solidFill>
                  <a:srgbClr val="D1F791"/>
                </a:solidFill>
                <a:latin typeface="DejaVu Sans"/>
                <a:ea typeface="DejaVu Sans"/>
                <a:cs typeface="DejaVu Sans"/>
              </a:rPr>
              <a:t>RELOOP AI  /  RESOURCE REUSE NETWORK</a:t>
            </a:r>
          </a:p>
        </p:txBody>
      </p:sp>
      <p:sp>
        <p:nvSpPr>
          <p:cNvPr id="2" name="">
            <a:extLst xmlns:a="http://schemas.openxmlformats.org/drawingml/2006/main">
              <a:ext uri="{FF2B5EF4-FFF2-40B4-BE49-F238E27FC236}">
                <a16:creationId xmlns:a16="http://schemas.microsoft.com/office/drawing/2014/main" id="{F34DE81D-B0B0-430D-9D5F-95EE2639FCA8}"/>
              </a:ext>
            </a:extLst>
          </p:cNvPr>
          <p:cNvSpPr>
            <a:spLocks xmlns:a="http://schemas.openxmlformats.org/drawingml/2006/main" noGrp="1"/>
          </p:cNvSpPr>
          <p:nvPr/>
        </p:nvSpPr>
        <p:spPr>
          <a:xfrm xmlns:a="http://schemas.openxmlformats.org/drawingml/2006/main">
            <a:off x="609600" y="80962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ReLoop AI</a:t>
            </a:r>
          </a:p>
        </p:txBody>
      </p:sp>
      <p:sp>
        <p:nvSpPr>
          <p:cNvPr id="3" name="">
            <a:extLst xmlns:a="http://schemas.openxmlformats.org/drawingml/2006/main">
              <a:ext uri="{FF2B5EF4-FFF2-40B4-BE49-F238E27FC236}">
                <a16:creationId xmlns:a16="http://schemas.microsoft.com/office/drawing/2014/main" id="{CCB46395-A250-4732-A47C-4ED8859CA69F}"/>
              </a:ext>
            </a:extLst>
          </p:cNvPr>
          <p:cNvSpPr>
            <a:spLocks xmlns:a="http://schemas.openxmlformats.org/drawingml/2006/main" noGrp="1"/>
          </p:cNvSpPr>
          <p:nvPr/>
        </p:nvSpPr>
        <p:spPr>
          <a:xfrm xmlns:a="http://schemas.openxmlformats.org/drawingml/2006/main">
            <a:off x="10953750" y="6381750"/>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1F791"/>
                </a:solidFill>
                <a:latin typeface="DejaVu Sans"/>
                <a:ea typeface="DejaVu Sans"/>
                <a:cs typeface="DejaVu Sans"/>
              </a:defRPr>
            </a:pPr>
            <a:r>
              <a:rPr sz="1275" b="0">
                <a:solidFill>
                  <a:srgbClr val="D1F791"/>
                </a:solidFill>
                <a:latin typeface="DejaVu Sans"/>
                <a:ea typeface="DejaVu Sans"/>
                <a:cs typeface="DejaVu Sans"/>
              </a:rPr>
              <a:t>18</a:t>
            </a:r>
          </a:p>
        </p:txBody>
      </p:sp>
      <p:sp>
        <p:nvSpPr>
          <p:cNvPr id="4" name="">
            <a:extLst xmlns:a="http://schemas.openxmlformats.org/drawingml/2006/main">
              <a:ext uri="{FF2B5EF4-FFF2-40B4-BE49-F238E27FC236}">
                <a16:creationId xmlns:a16="http://schemas.microsoft.com/office/drawing/2014/main" id="{73C447D2-1C88-4EE8-93A4-7D11B3A99046}"/>
              </a:ext>
            </a:extLst>
          </p:cNvPr>
          <p:cNvSpPr>
            <a:spLocks xmlns:a="http://schemas.openxmlformats.org/drawingml/2006/main" noGrp="1"/>
          </p:cNvSpPr>
          <p:nvPr/>
        </p:nvSpPr>
        <p:spPr>
          <a:xfrm xmlns:a="http://schemas.openxmlformats.org/drawingml/2006/main">
            <a:off x="609600" y="1943100"/>
            <a:ext cx="10382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D1F791"/>
                </a:solidFill>
                <a:latin typeface="DejaVu Sans"/>
                <a:ea typeface="DejaVu Sans"/>
                <a:cs typeface="DejaVu Sans"/>
              </a:defRPr>
            </a:pPr>
            <a:r>
              <a:rPr sz="4275" b="1">
                <a:solidFill>
                  <a:srgbClr val="D1F791"/>
                </a:solidFill>
                <a:latin typeface="DejaVu Sans"/>
                <a:ea typeface="DejaVu Sans"/>
                <a:cs typeface="DejaVu Sans"/>
              </a:rPr>
              <a:t>A reuse check before</a:t>
            </a:r>
          </a:p>
          <a:p xmlns:a="http://schemas.openxmlformats.org/drawingml/2006/main">
            <a:pPr>
              <a:defRPr sz="4275" b="1">
                <a:solidFill>
                  <a:srgbClr val="D1F791"/>
                </a:solidFill>
                <a:latin typeface="DejaVu Sans"/>
                <a:ea typeface="DejaVu Sans"/>
                <a:cs typeface="DejaVu Sans"/>
              </a:defRPr>
            </a:pPr>
            <a:r>
              <a:rPr sz="4275" b="1">
                <a:solidFill>
                  <a:srgbClr val="D1F791"/>
                </a:solidFill>
                <a:latin typeface="DejaVu Sans"/>
                <a:ea typeface="DejaVu Sans"/>
                <a:cs typeface="DejaVu Sans"/>
              </a:rPr>
              <a:t>the next purchase.</a:t>
            </a:r>
          </a:p>
        </p:txBody>
      </p:sp>
      <p:sp>
        <p:nvSpPr>
          <p:cNvPr id="5" name="">
            <a:extLst xmlns:a="http://schemas.openxmlformats.org/drawingml/2006/main">
              <a:ext uri="{FF2B5EF4-FFF2-40B4-BE49-F238E27FC236}">
                <a16:creationId xmlns:a16="http://schemas.microsoft.com/office/drawing/2014/main" id="{2B200742-BE84-4701-9619-9869502C1C24}"/>
              </a:ext>
            </a:extLst>
          </p:cNvPr>
          <p:cNvSpPr>
            <a:spLocks xmlns:a="http://schemas.openxmlformats.org/drawingml/2006/main" noGrp="1"/>
          </p:cNvSpPr>
          <p:nvPr/>
        </p:nvSpPr>
        <p:spPr>
          <a:xfrm xmlns:a="http://schemas.openxmlformats.org/drawingml/2006/main">
            <a:off x="609600" y="38290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DejaVu Sans"/>
                <a:ea typeface="DejaVu Sans"/>
                <a:cs typeface="DejaVu Sans"/>
              </a:defRPr>
            </a:pPr>
            <a:r>
              <a:rPr sz="2400" b="1">
                <a:solidFill>
                  <a:srgbClr val="FFFFFF"/>
                </a:solidFill>
                <a:latin typeface="DejaVu Sans"/>
                <a:ea typeface="DejaVu Sans"/>
                <a:cs typeface="DejaVu Sans"/>
              </a:rPr>
              <a:t>github.com/rishabh230707-afk/ReLoop-AI</a:t>
            </a:r>
          </a:p>
        </p:txBody>
      </p:sp>
      <p:sp>
        <p:nvSpPr>
          <p:cNvPr id="6" name="">
            <a:extLst xmlns:a="http://schemas.openxmlformats.org/drawingml/2006/main">
              <a:ext uri="{FF2B5EF4-FFF2-40B4-BE49-F238E27FC236}">
                <a16:creationId xmlns:a16="http://schemas.microsoft.com/office/drawing/2014/main" id="{D8B9BF85-B548-4789-915D-B66F6E4C69EB}"/>
              </a:ext>
            </a:extLst>
          </p:cNvPr>
          <p:cNvSpPr>
            <a:spLocks xmlns:a="http://schemas.openxmlformats.org/drawingml/2006/main" noGrp="1"/>
          </p:cNvSpPr>
          <p:nvPr/>
        </p:nvSpPr>
        <p:spPr>
          <a:xfrm xmlns:a="http://schemas.openxmlformats.org/drawingml/2006/main">
            <a:off x="609600" y="48387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Browser demo: python3 web_app.py</a:t>
            </a:r>
          </a:p>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School example: python3 reloop.py school-demo</a:t>
            </a:r>
          </a:p>
        </p:txBody>
      </p:sp>
      <p:sp>
        <p:nvSpPr>
          <p:cNvPr id="7" name="">
            <a:extLst xmlns:a="http://schemas.openxmlformats.org/drawingml/2006/main">
              <a:ext uri="{FF2B5EF4-FFF2-40B4-BE49-F238E27FC236}">
                <a16:creationId xmlns:a16="http://schemas.microsoft.com/office/drawing/2014/main" id="{7BBDF2F7-0222-4882-A31F-93922BAEF2D6}"/>
              </a:ext>
            </a:extLst>
          </p:cNvPr>
          <p:cNvSpPr>
            <a:spLocks xmlns:a="http://schemas.openxmlformats.org/drawingml/2006/main" noGrp="1"/>
          </p:cNvSpPr>
          <p:nvPr/>
        </p:nvSpPr>
        <p:spPr>
          <a:xfrm xmlns:a="http://schemas.openxmlformats.org/drawingml/2006/main">
            <a:off x="609600" y="60388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D2C6"/>
                </a:solidFill>
                <a:latin typeface="DejaVu Sans"/>
                <a:ea typeface="DejaVu Sans"/>
                <a:cs typeface="DejaVu Sans"/>
              </a:defRPr>
            </a:pPr>
            <a:r>
              <a:rPr sz="1500" b="0">
                <a:solidFill>
                  <a:srgbClr val="B9D2C6"/>
                </a:solidFill>
                <a:latin typeface="DejaVu Sans"/>
                <a:ea typeface="DejaVu Sans"/>
                <a:cs typeface="DejaVu Sans"/>
              </a:rPr>
              <a:t>Sources: internship brief, project code and UN SDGs 4, 12, 17</a:t>
            </a:r>
          </a:p>
        </p:txBody>
      </p:sp>
    </p:spTree>
    <p:extLst>
      <p:ext uri="{BB962C8B-B14F-4D97-AF65-F5344CB8AC3E}">
        <p14:creationId xmlns:p14="http://schemas.microsoft.com/office/powerpoint/2010/main" val="1775725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2026-09-17T14:16:29.5620000Z</dcterms:created>
  <dcterms:modified xsi:type="dcterms:W3CDTF">2026-09-17T14:16:29.5620000Z</dcterms:modified>
</coreProperties>
</file>